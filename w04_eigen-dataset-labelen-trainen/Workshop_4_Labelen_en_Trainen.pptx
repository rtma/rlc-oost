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3" r:id="rId3"/>
    <p:sldId id="272" r:id="rId4"/>
    <p:sldId id="274" r:id="rId5"/>
    <p:sldId id="275" r:id="rId6"/>
    <p:sldId id="257" r:id="rId7"/>
    <p:sldId id="271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2437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EB242-8E1B-A243-E276-301DF54E0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5D199-A8D4-DE5F-7C4F-A22C6DDFE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55983-65B2-6A41-955A-83A62BA47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A60CE-D780-B520-E163-80BFA99E11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106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9B5A-432E-C140-D3DE-012499B39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97D3D-DB6D-3C78-2C83-B23E7376A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6A861-D0BF-17A0-7E40-76F7DB794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A7F33-CD35-CB64-CF21-53B6666631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12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3E6A7-2F29-D4E6-554A-8CECA0A0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87435-3402-ED71-511D-4D7A2817F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C2BDA-EC33-E908-E3EC-4A0AC92AB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99734-F462-E332-A2C0-110BA9A76F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67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EB5C1-31B6-C89D-B78C-C43476F19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BDA8A-A856-E061-42A7-C9E87677E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2AC3F-D2B7-126D-0A0C-679196059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3B6BD-9946-AF19-B4BA-A0C314633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15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8090">
              <a:alpha val="85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 </a:t>
            </a:r>
            <a:r>
              <a:rPr lang="en-US" sz="1800" b="1" kern="0" spc="600" dirty="0" err="1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dag</a:t>
            </a:r>
            <a:r>
              <a:rPr lang="en-US" sz="1800" b="1" kern="0" spc="6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RLC-Oost</a:t>
            </a:r>
          </a:p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Trebuchet MS" pitchFamily="34" charset="0"/>
              </a:rPr>
              <a:t>Eigen dataset </a:t>
            </a:r>
            <a:r>
              <a:rPr lang="en-US" sz="1600" b="1" i="1" dirty="0" err="1">
                <a:solidFill>
                  <a:srgbClr val="FFFFFF"/>
                </a:solidFill>
                <a:latin typeface="Trebuchet MS" pitchFamily="34" charset="0"/>
              </a:rPr>
              <a:t>labelen</a:t>
            </a:r>
            <a:r>
              <a:rPr lang="en-US" sz="1600" b="1" i="1" dirty="0">
                <a:solidFill>
                  <a:srgbClr val="FFFFFF"/>
                </a:solidFill>
                <a:latin typeface="Trebuchet MS" pitchFamily="34" charset="0"/>
              </a:rPr>
              <a:t> </a:t>
            </a:r>
            <a:r>
              <a:rPr lang="en-US" sz="1600" b="1" i="1" dirty="0" err="1">
                <a:solidFill>
                  <a:srgbClr val="FFFFFF"/>
                </a:solidFill>
                <a:latin typeface="Trebuchet MS" pitchFamily="34" charset="0"/>
              </a:rPr>
              <a:t>en</a:t>
            </a:r>
            <a:r>
              <a:rPr lang="en-US" sz="1600" b="1" i="1" dirty="0">
                <a:solidFill>
                  <a:srgbClr val="FFFFFF"/>
                </a:solidFill>
                <a:latin typeface="Trebuchet MS" pitchFamily="34" charset="0"/>
              </a:rPr>
              <a:t> SAM2</a:t>
            </a:r>
            <a:endParaRPr lang="en-US" sz="1600" i="1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59084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Community Oost— AI Vision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7D7A5AE-49FB-6667-D143-A7717CCDBF11}"/>
              </a:ext>
            </a:extLst>
          </p:cNvPr>
          <p:cNvSpPr/>
          <p:nvPr/>
        </p:nvSpPr>
        <p:spPr>
          <a:xfrm>
            <a:off x="7315199" y="4119487"/>
            <a:ext cx="1094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10-03-2026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C50AA-2942-F9BE-00F9-4D8DEC70C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448176-CBB2-57F9-8A56-886F22A8A684}"/>
              </a:ext>
            </a:extLst>
          </p:cNvPr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Programma vandaag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FA1A36E-B702-F6B1-788C-85C1249AD151}"/>
              </a:ext>
            </a:extLst>
          </p:cNvPr>
          <p:cNvSpPr/>
          <p:nvPr/>
        </p:nvSpPr>
        <p:spPr>
          <a:xfrm>
            <a:off x="731520" y="1280160"/>
            <a:ext cx="109728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528391-DDFB-BA94-8230-0E206D4B6D25}"/>
              </a:ext>
            </a:extLst>
          </p:cNvPr>
          <p:cNvSpPr/>
          <p:nvPr/>
        </p:nvSpPr>
        <p:spPr>
          <a:xfrm>
            <a:off x="731520" y="1280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Welkom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45394F-795B-2B6E-1E85-6D5DAC961F87}"/>
              </a:ext>
            </a:extLst>
          </p:cNvPr>
          <p:cNvSpPr/>
          <p:nvPr/>
        </p:nvSpPr>
        <p:spPr>
          <a:xfrm>
            <a:off x="2011680" y="1280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staan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nu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F8AD7FE-0FF5-ECDB-6FD5-92195C7F54F7}"/>
              </a:ext>
            </a:extLst>
          </p:cNvPr>
          <p:cNvSpPr/>
          <p:nvPr/>
        </p:nvSpPr>
        <p:spPr>
          <a:xfrm>
            <a:off x="731520" y="1847088"/>
            <a:ext cx="109728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23792CB-0F78-4143-D405-5AC6ECB5834A}"/>
              </a:ext>
            </a:extLst>
          </p:cNvPr>
          <p:cNvSpPr/>
          <p:nvPr/>
        </p:nvSpPr>
        <p:spPr>
          <a:xfrm>
            <a:off x="731520" y="18470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F4115EE-2F0C-D0BF-6727-62DF906FC027}"/>
              </a:ext>
            </a:extLst>
          </p:cNvPr>
          <p:cNvSpPr/>
          <p:nvPr/>
        </p:nvSpPr>
        <p:spPr>
          <a:xfrm>
            <a:off x="2011680" y="18470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vervolg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case vision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71BB31C-6991-7378-9C78-8EE1538089A0}"/>
              </a:ext>
            </a:extLst>
          </p:cNvPr>
          <p:cNvSpPr/>
          <p:nvPr/>
        </p:nvSpPr>
        <p:spPr>
          <a:xfrm>
            <a:off x="731520" y="2414016"/>
            <a:ext cx="109728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9348B35-84ED-AE52-401D-75F9A5285063}"/>
              </a:ext>
            </a:extLst>
          </p:cNvPr>
          <p:cNvSpPr/>
          <p:nvPr/>
        </p:nvSpPr>
        <p:spPr>
          <a:xfrm>
            <a:off x="731520" y="24140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0B42ED2-45CC-B216-B03D-6D6548C7EBBA}"/>
              </a:ext>
            </a:extLst>
          </p:cNvPr>
          <p:cNvSpPr/>
          <p:nvPr/>
        </p:nvSpPr>
        <p:spPr>
          <a:xfrm>
            <a:off x="2011679" y="2414016"/>
            <a:ext cx="5971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Workshops – eigen dataset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SAM2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onderzoeken</a:t>
            </a:r>
            <a:endParaRPr lang="en-US" sz="16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75466D6-6D86-845B-B5C4-814924A1C2C5}"/>
              </a:ext>
            </a:extLst>
          </p:cNvPr>
          <p:cNvSpPr/>
          <p:nvPr/>
        </p:nvSpPr>
        <p:spPr>
          <a:xfrm>
            <a:off x="731520" y="2980944"/>
            <a:ext cx="109728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9B11EBF-6BDC-9C5B-720F-93098291C1E1}"/>
              </a:ext>
            </a:extLst>
          </p:cNvPr>
          <p:cNvSpPr/>
          <p:nvPr/>
        </p:nvSpPr>
        <p:spPr>
          <a:xfrm>
            <a:off x="731520" y="298094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663AE38-E81D-16A4-E834-9CF5564891DA}"/>
              </a:ext>
            </a:extLst>
          </p:cNvPr>
          <p:cNvSpPr/>
          <p:nvPr/>
        </p:nvSpPr>
        <p:spPr>
          <a:xfrm>
            <a:off x="2011680" y="29809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Terugkijken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 de workshops 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9CD8E4B-C917-5EFB-3BA4-D8405D2DDA74}"/>
              </a:ext>
            </a:extLst>
          </p:cNvPr>
          <p:cNvSpPr/>
          <p:nvPr/>
        </p:nvSpPr>
        <p:spPr>
          <a:xfrm>
            <a:off x="731520" y="3511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Totaal ± 2,5 uur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76424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C8E8D-E831-CC02-6CCF-C3A2D8051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hthoek 25">
            <a:extLst>
              <a:ext uri="{FF2B5EF4-FFF2-40B4-BE49-F238E27FC236}">
                <a16:creationId xmlns:a16="http://schemas.microsoft.com/office/drawing/2014/main" id="{BA21A811-6A99-6A81-8977-1A7ECF4853EC}"/>
              </a:ext>
            </a:extLst>
          </p:cNvPr>
          <p:cNvSpPr/>
          <p:nvPr/>
        </p:nvSpPr>
        <p:spPr>
          <a:xfrm>
            <a:off x="6457070" y="1188719"/>
            <a:ext cx="1871003" cy="34325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Vandaag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2D3D7C3-BF56-AF30-22C6-3CAEFA90FD96}"/>
              </a:ext>
            </a:extLst>
          </p:cNvPr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Terugblik</a:t>
            </a: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op de workshops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D33A5B1-1FC8-2F9F-B1E2-F089E2BAEB53}"/>
              </a:ext>
            </a:extLst>
          </p:cNvPr>
          <p:cNvSpPr/>
          <p:nvPr/>
        </p:nvSpPr>
        <p:spPr>
          <a:xfrm>
            <a:off x="744844" y="1357532"/>
            <a:ext cx="1471556" cy="1125416"/>
          </a:xfrm>
          <a:prstGeom prst="rect">
            <a:avLst/>
          </a:prstGeom>
          <a:solidFill>
            <a:srgbClr val="F0F7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563D8A6-8622-7E1D-B7B3-1BC361484684}"/>
              </a:ext>
            </a:extLst>
          </p:cNvPr>
          <p:cNvSpPr/>
          <p:nvPr/>
        </p:nvSpPr>
        <p:spPr>
          <a:xfrm>
            <a:off x="907071" y="1427870"/>
            <a:ext cx="1316654" cy="984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1</a:t>
            </a:r>
            <a:endParaRPr lang="en-US" sz="14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Installeren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benodigdheden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6BD480-51CF-6A4A-2FEE-DA983EBE5DF9}"/>
              </a:ext>
            </a:extLst>
          </p:cNvPr>
          <p:cNvSpPr/>
          <p:nvPr/>
        </p:nvSpPr>
        <p:spPr>
          <a:xfrm>
            <a:off x="2103858" y="1536895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FB10D3F2-53F8-6C89-60D2-2F0808F243E8}"/>
              </a:ext>
            </a:extLst>
          </p:cNvPr>
          <p:cNvSpPr/>
          <p:nvPr/>
        </p:nvSpPr>
        <p:spPr>
          <a:xfrm>
            <a:off x="2708766" y="1356148"/>
            <a:ext cx="1472400" cy="112680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C432C35-6C72-7BDA-0F5E-066320B6E77C}"/>
              </a:ext>
            </a:extLst>
          </p:cNvPr>
          <p:cNvSpPr/>
          <p:nvPr/>
        </p:nvSpPr>
        <p:spPr>
          <a:xfrm>
            <a:off x="2891645" y="1441938"/>
            <a:ext cx="1113693" cy="101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2</a:t>
            </a:r>
            <a:endParaRPr lang="en-US" sz="1600" dirty="0"/>
          </a:p>
          <a:p>
            <a:pPr marL="0" indent="0">
              <a:buNone/>
            </a:pP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YOLO model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lokaal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draaien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AF097A27-191D-DFA1-9884-DB1509E9119D}"/>
              </a:ext>
            </a:extLst>
          </p:cNvPr>
          <p:cNvSpPr/>
          <p:nvPr/>
        </p:nvSpPr>
        <p:spPr>
          <a:xfrm>
            <a:off x="4702093" y="1336430"/>
            <a:ext cx="1471556" cy="1125416"/>
          </a:xfrm>
          <a:prstGeom prst="rect">
            <a:avLst/>
          </a:prstGeom>
          <a:solidFill>
            <a:srgbClr val="F0F7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EFE6005F-4B67-0458-0D21-B11BB059323F}"/>
              </a:ext>
            </a:extLst>
          </p:cNvPr>
          <p:cNvSpPr/>
          <p:nvPr/>
        </p:nvSpPr>
        <p:spPr>
          <a:xfrm>
            <a:off x="4864320" y="1406768"/>
            <a:ext cx="1316654" cy="984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</a:t>
            </a:r>
            <a:endParaRPr lang="en-US" sz="14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Transferlearning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gelabelde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</a:t>
            </a:r>
            <a:endParaRPr lang="en-US" sz="16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ADF08EA9-3659-A569-3E2C-CE070F71E002}"/>
              </a:ext>
            </a:extLst>
          </p:cNvPr>
          <p:cNvSpPr/>
          <p:nvPr/>
        </p:nvSpPr>
        <p:spPr>
          <a:xfrm>
            <a:off x="6061107" y="1515793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F78EA534-86DB-9BA3-2F96-387011FCBFF6}"/>
              </a:ext>
            </a:extLst>
          </p:cNvPr>
          <p:cNvSpPr/>
          <p:nvPr/>
        </p:nvSpPr>
        <p:spPr>
          <a:xfrm>
            <a:off x="6666015" y="1335046"/>
            <a:ext cx="1472400" cy="112680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117CB71-C21F-1613-0086-A229287CB936}"/>
              </a:ext>
            </a:extLst>
          </p:cNvPr>
          <p:cNvSpPr/>
          <p:nvPr/>
        </p:nvSpPr>
        <p:spPr>
          <a:xfrm>
            <a:off x="6848894" y="1420836"/>
            <a:ext cx="1113693" cy="101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4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dataset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labellen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52A0874E-B435-8E04-4A6C-FDFA2E5BE83C}"/>
              </a:ext>
            </a:extLst>
          </p:cNvPr>
          <p:cNvSpPr/>
          <p:nvPr/>
        </p:nvSpPr>
        <p:spPr>
          <a:xfrm>
            <a:off x="4062890" y="1515793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7891B223-887A-FCA1-307A-5C178700169B}"/>
              </a:ext>
            </a:extLst>
          </p:cNvPr>
          <p:cNvSpPr/>
          <p:nvPr/>
        </p:nvSpPr>
        <p:spPr>
          <a:xfrm>
            <a:off x="1706136" y="3092548"/>
            <a:ext cx="1471556" cy="11254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CF7E8A25-C41F-B06A-8479-A6CD29E2A7A7}"/>
              </a:ext>
            </a:extLst>
          </p:cNvPr>
          <p:cNvSpPr/>
          <p:nvPr/>
        </p:nvSpPr>
        <p:spPr>
          <a:xfrm>
            <a:off x="1868363" y="3162886"/>
            <a:ext cx="1316654" cy="984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1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trainen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Etna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koffiemachine</a:t>
            </a:r>
            <a:endParaRPr lang="en-US" sz="16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14877155-7C6F-9F19-11D0-0F2F03CE7DFB}"/>
              </a:ext>
            </a:extLst>
          </p:cNvPr>
          <p:cNvSpPr/>
          <p:nvPr/>
        </p:nvSpPr>
        <p:spPr>
          <a:xfrm>
            <a:off x="3559852" y="3273083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4B158A91-4242-5E48-0BA6-22C47E5FDBCA}"/>
              </a:ext>
            </a:extLst>
          </p:cNvPr>
          <p:cNvSpPr/>
          <p:nvPr/>
        </p:nvSpPr>
        <p:spPr>
          <a:xfrm>
            <a:off x="4666207" y="3091164"/>
            <a:ext cx="1472400" cy="112680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522323DD-669C-6613-4094-07DA74AF3DCA}"/>
              </a:ext>
            </a:extLst>
          </p:cNvPr>
          <p:cNvSpPr/>
          <p:nvPr/>
        </p:nvSpPr>
        <p:spPr>
          <a:xfrm>
            <a:off x="4849086" y="3176954"/>
            <a:ext cx="1113693" cy="1019908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2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D3C198C6-B4FF-A1BD-53FF-C26264CCDC33}"/>
              </a:ext>
            </a:extLst>
          </p:cNvPr>
          <p:cNvSpPr/>
          <p:nvPr/>
        </p:nvSpPr>
        <p:spPr>
          <a:xfrm>
            <a:off x="6659534" y="3071446"/>
            <a:ext cx="1471556" cy="11254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696C2307-7D87-18FA-A180-FE20A29B5009}"/>
              </a:ext>
            </a:extLst>
          </p:cNvPr>
          <p:cNvSpPr/>
          <p:nvPr/>
        </p:nvSpPr>
        <p:spPr>
          <a:xfrm>
            <a:off x="6821761" y="3141784"/>
            <a:ext cx="1316654" cy="9847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</a:t>
            </a:r>
            <a:endParaRPr lang="en-US" sz="14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Anything Model 2 </a:t>
            </a:r>
            <a:endParaRPr lang="en-US" sz="16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F9925420-0133-7339-1214-C331E47FC5F3}"/>
              </a:ext>
            </a:extLst>
          </p:cNvPr>
          <p:cNvSpPr/>
          <p:nvPr/>
        </p:nvSpPr>
        <p:spPr>
          <a:xfrm>
            <a:off x="6020331" y="325080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1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E5755-BF65-B93A-A91D-AADE00771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0F4115-9939-E4B1-5B8E-A7E70B511D0A}"/>
              </a:ext>
            </a:extLst>
          </p:cNvPr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Vooruitkijken</a:t>
            </a: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workshops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E740AB6-D6F0-9105-7B3A-FA1E0E40B2CA}"/>
              </a:ext>
            </a:extLst>
          </p:cNvPr>
          <p:cNvSpPr/>
          <p:nvPr/>
        </p:nvSpPr>
        <p:spPr>
          <a:xfrm>
            <a:off x="731520" y="2051751"/>
            <a:ext cx="3526762" cy="1125416"/>
          </a:xfrm>
          <a:prstGeom prst="rect">
            <a:avLst/>
          </a:prstGeom>
          <a:solidFill>
            <a:srgbClr val="F0F7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C24A83-C988-1A70-7650-3F6DAE2316AC}"/>
              </a:ext>
            </a:extLst>
          </p:cNvPr>
          <p:cNvSpPr/>
          <p:nvPr/>
        </p:nvSpPr>
        <p:spPr>
          <a:xfrm>
            <a:off x="808970" y="2100987"/>
            <a:ext cx="3155521" cy="984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</a:t>
            </a:r>
            <a:r>
              <a:rPr lang="en-US" sz="160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Belichting</a:t>
            </a: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</a:t>
            </a:r>
            <a:endParaRPr lang="en-US" sz="14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Tx/>
              <a:buChar char="-"/>
            </a:pP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Invloed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van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belichting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hiermee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werken</a:t>
            </a:r>
            <a:endParaRPr lang="en-US" sz="13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Tx/>
              <a:buChar char="-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keuzes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zoals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742950" lvl="1" indent="-285750">
              <a:buFontTx/>
              <a:buChar char="-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742950" lvl="1" indent="-285750">
              <a:buFontTx/>
              <a:buChar char="-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(Edge)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apparaten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deployment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E10E0D-C3BF-9948-6853-9C547C28A0AC}"/>
              </a:ext>
            </a:extLst>
          </p:cNvPr>
          <p:cNvSpPr/>
          <p:nvPr/>
        </p:nvSpPr>
        <p:spPr>
          <a:xfrm>
            <a:off x="4335732" y="224869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9D6096CB-B6AB-58DD-D473-372C0E150920}"/>
              </a:ext>
            </a:extLst>
          </p:cNvPr>
          <p:cNvSpPr/>
          <p:nvPr/>
        </p:nvSpPr>
        <p:spPr>
          <a:xfrm>
            <a:off x="5068603" y="2085724"/>
            <a:ext cx="3583028" cy="112680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DD13D891-E452-6ADB-46E5-41AA64991765}"/>
              </a:ext>
            </a:extLst>
          </p:cNvPr>
          <p:cNvSpPr/>
          <p:nvPr/>
        </p:nvSpPr>
        <p:spPr>
          <a:xfrm>
            <a:off x="5355420" y="2171514"/>
            <a:ext cx="2710128" cy="101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Afronden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onderwerp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Vision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hebben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geleerd</a:t>
            </a:r>
            <a:endParaRPr lang="en-US" sz="13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Opbouwen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kennismanagement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systeem</a:t>
            </a:r>
            <a:endParaRPr lang="en-US" sz="13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BCCD88B8-5380-627A-DD76-17E0A5DE5D1C}"/>
              </a:ext>
            </a:extLst>
          </p:cNvPr>
          <p:cNvSpPr/>
          <p:nvPr/>
        </p:nvSpPr>
        <p:spPr>
          <a:xfrm>
            <a:off x="2129994" y="3134963"/>
            <a:ext cx="513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April </a:t>
            </a:r>
            <a:endParaRPr lang="en-US" sz="18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71AACB2-BB25-540F-204A-5FF86EF4F4B2}"/>
              </a:ext>
            </a:extLst>
          </p:cNvPr>
          <p:cNvSpPr/>
          <p:nvPr/>
        </p:nvSpPr>
        <p:spPr>
          <a:xfrm>
            <a:off x="6603381" y="3137520"/>
            <a:ext cx="513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Mei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56292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DB0F6387-0510-0334-E5E8-46CF24190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180"/>
            <a:ext cx="9144000" cy="409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10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Programma vandaag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9728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1280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+ labelregels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0" y="1280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47088"/>
            <a:ext cx="109728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18470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 in Label Studio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0" y="18470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414016"/>
            <a:ext cx="109728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731520" y="24140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4140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+ dataset check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241401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2980944"/>
            <a:ext cx="109728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731520" y="298094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29809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trainen (YOLO)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298094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547872"/>
            <a:ext cx="109728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731520" y="35478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11680" y="35478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Evaluatie + live demo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5478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114800"/>
            <a:ext cx="109728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731520" y="4114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11680" y="4114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Reflectie + verbeterplan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0" y="4114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Totaal ± 2,5 uur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C49BBC-DC7C-F7A1-F70D-0592F76D3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CACF18-342A-FA62-A65C-87D22818EDBD}"/>
              </a:ext>
            </a:extLst>
          </p:cNvPr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Waarom eigen data?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D2C943D-26CA-F9BC-D46D-7660B408AD02}"/>
              </a:ext>
            </a:extLst>
          </p:cNvPr>
          <p:cNvSpPr/>
          <p:nvPr/>
        </p:nvSpPr>
        <p:spPr>
          <a:xfrm>
            <a:off x="731520" y="1188720"/>
            <a:ext cx="3474720" cy="1463040"/>
          </a:xfrm>
          <a:prstGeom prst="rect">
            <a:avLst/>
          </a:prstGeom>
          <a:solidFill>
            <a:srgbClr val="F0F7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4CBAB6-9E62-3489-678C-829B59A60D82}"/>
              </a:ext>
            </a:extLst>
          </p:cNvPr>
          <p:cNvSpPr/>
          <p:nvPr/>
        </p:nvSpPr>
        <p:spPr>
          <a:xfrm>
            <a:off x="914400" y="1280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Trainen met bestaande data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hoe werkt training?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FF13DA-5487-708D-EB3C-B08361828612}"/>
              </a:ext>
            </a:extLst>
          </p:cNvPr>
          <p:cNvSpPr/>
          <p:nvPr/>
        </p:nvSpPr>
        <p:spPr>
          <a:xfrm>
            <a:off x="420624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DA30201-E99D-B2FF-1B84-3167E48645B6}"/>
              </a:ext>
            </a:extLst>
          </p:cNvPr>
          <p:cNvSpPr/>
          <p:nvPr/>
        </p:nvSpPr>
        <p:spPr>
          <a:xfrm>
            <a:off x="4937760" y="1188720"/>
            <a:ext cx="3474720" cy="146304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339CF13-422B-4143-5FB1-FF49F0245BB1}"/>
              </a:ext>
            </a:extLst>
          </p:cNvPr>
          <p:cNvSpPr/>
          <p:nvPr/>
        </p:nvSpPr>
        <p:spPr>
          <a:xfrm>
            <a:off x="5120640" y="1280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4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keten zelf bouwen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data → labels → model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B1415CF-D7CA-84FA-1980-EFD999756864}"/>
              </a:ext>
            </a:extLst>
          </p:cNvPr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Kernboodschap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151D061-7165-6050-2799-61226CA20F1E}"/>
              </a:ext>
            </a:extLst>
          </p:cNvPr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Labelkwaliteit</a:t>
            </a: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grote</a:t>
            </a: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invloed</a:t>
            </a: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 </a:t>
            </a:r>
            <a:r>
              <a:rPr lang="en-US" sz="15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modelkwaliteit</a:t>
            </a:r>
            <a:endParaRPr lang="en-US" sz="15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Slechte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labels → slecht model, ongeacht hoeveel data je hebt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215917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Deel A — </a:t>
            </a:r>
            <a:r>
              <a:rPr lang="en-US" sz="3200" b="1" dirty="0" err="1">
                <a:solidFill>
                  <a:srgbClr val="00B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Gedaan</a:t>
            </a: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— Foto's verzamelen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29184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Minimumvereisten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25–50 foto's per klasse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duidelijke categorieën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Telefooncamera is prima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Gevarieerde achtergronden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Voldoende belichting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329184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Variatie is essentieel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7830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Hoeken: boven / zij / schuin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Afstanden: dichtbij / ver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Achtergronden: werkbank, vloer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Belichting: dag / kunstlicht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object + meerdere objecten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Labelprotocol — Bounding Boxes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fit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strak om het object — geen grote lege ruimte rondom.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leert positie en omvang uit die boxen. Te losse of inconsistente boxen verlagen nauwkeurigheid.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Gouden regels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291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Consistentie boven perfectie — hetzelfde labelen is belangrijker dan pixel-perfect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794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alleen de afgesproken klassenamen — geen variaties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4297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'gokken' buiten beeldranden — box stopt bij de rand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Labelprotocol — Randgevallen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37160" cy="10058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868680" y="1188720"/>
            <a:ext cx="7543800" cy="100584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Deels zichtbaar (beeldrand)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 labelen als herkenbaar (≥30% zichtbaar). Box loopt door tot beeldrand.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137160" cy="10058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68680" y="2377440"/>
            <a:ext cx="7543800" cy="100584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1097280" y="2468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/ occlusie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834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herkenbaar object apart labelen. Overlappende boxes zijn toegestaan.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137160" cy="1005840"/>
          </a:xfrm>
          <a:prstGeom prst="rect">
            <a:avLst/>
          </a:prstGeom>
          <a:solidFill>
            <a:srgbClr val="0B202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Shape 10"/>
          <p:cNvSpPr/>
          <p:nvPr/>
        </p:nvSpPr>
        <p:spPr>
          <a:xfrm>
            <a:off x="868680" y="3566160"/>
            <a:ext cx="7543800" cy="100584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1097280" y="3657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objecten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 labelen als betrouwbaar herkenbaar. Overweeg hogere imgsz of dichterbij fotograferen.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Kwaliteitscontrole op labels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200400" cy="256032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</a:t>
            </a:r>
            <a:endParaRPr lang="en-US" sz="4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beelden</a:t>
            </a:r>
            <a:endParaRPr lang="en-US" sz="4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dubbel labelen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38912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Werkwijze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89120" y="17373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personen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labelen dezelfde beelden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Vergelijk de bounding boxes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Bespreek verschillen in teamcheck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het protocol aan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onduidelijkheid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Documenteer in het labellogboek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Consistentie tussen annotators is belangrijker dan </a:t>
            </a:r>
            <a:r>
              <a:rPr lang="en-US" sz="1500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perfectie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Labelen in Label Studio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Label Studio?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1051560"/>
          </a:xfrm>
          <a:prstGeom prst="rect">
            <a:avLst/>
          </a:prstGeom>
          <a:solidFill>
            <a:srgbClr val="F0F7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blijft op lokale server — geen cloud uploads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657600" cy="1051560"/>
          </a:xfrm>
          <a:prstGeom prst="rect">
            <a:avLst/>
          </a:prstGeom>
          <a:solidFill>
            <a:srgbClr val="F0F7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licentie — gratis voor iedereen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3657600" cy="1051560"/>
          </a:xfrm>
          <a:prstGeom prst="rect">
            <a:avLst/>
          </a:prstGeom>
          <a:solidFill>
            <a:srgbClr val="F0F7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Ondersteunt bounding boxes, polygonen, en meer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3657600" cy="1051560"/>
          </a:xfrm>
          <a:prstGeom prst="rect">
            <a:avLst/>
          </a:prstGeom>
          <a:solidFill>
            <a:srgbClr val="F0F7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493776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 export naar YOLO-formaat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WIFI: SSID: CIVON </a:t>
            </a:r>
            <a:r>
              <a:rPr lang="en-US" sz="14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wachtwoord</a:t>
            </a: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civon2019</a:t>
            </a:r>
          </a:p>
          <a:p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Invite link: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http://192.168.212.12:8080/user/signup/?token=px8jXeGvT9AbFegf8HJdoDN5rfR61GmEj2UWxBy2</a:t>
            </a:r>
            <a:endParaRPr lang="en-US" sz="140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4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Toegang</a:t>
            </a: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192.168.212.12:8080</a:t>
            </a: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Beeldformaten &amp; resizing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Belangrijk: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Tijdens training worden alle beelden automatisch geresized naar </a:t>
            </a: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imgsz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(standaard 640 pixels). Kleine details kunnen hierdoor verdwijnen!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2468880" cy="1645920"/>
          </a:xfrm>
          <a:prstGeom prst="rect">
            <a:avLst/>
          </a:prstGeom>
          <a:solidFill>
            <a:srgbClr val="F0F7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Objectgrootte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Zorg dat objecten voldoende groot in beeld staan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651760"/>
            <a:ext cx="2468880" cy="1645920"/>
          </a:xfrm>
          <a:prstGeom prst="rect">
            <a:avLst/>
          </a:prstGeom>
          <a:solidFill>
            <a:srgbClr val="F0F7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361188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objecten?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 imgsz=960 of 1280 (trager maar nauwkeuriger)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651760"/>
            <a:ext cx="2468880" cy="1645920"/>
          </a:xfrm>
          <a:prstGeom prst="rect">
            <a:avLst/>
          </a:prstGeom>
          <a:solidFill>
            <a:srgbClr val="F0F7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35508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Afweging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Hoger imgsz = betere detectie, maar langere trainingstijd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structuur (YOLO)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114800" cy="3108960"/>
          </a:xfrm>
          <a:prstGeom prst="rect">
            <a:avLst/>
          </a:prstGeom>
          <a:solidFill>
            <a:srgbClr val="0B202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images/   labels/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images/   labels/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images/   labels/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data.yaml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Verdeling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303520" y="1828800"/>
            <a:ext cx="2688336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7991856" y="1828800"/>
            <a:ext cx="576072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567928" y="1828800"/>
            <a:ext cx="576072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5303520" y="2560320"/>
            <a:ext cx="2743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576072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70%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0" y="3063240"/>
            <a:ext cx="274320" cy="2743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576072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— 15%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3566160"/>
            <a:ext cx="27432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576072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15%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— net als workshop 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solidFill>
            <a:srgbClr val="0B202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YOLO("yolov8n.pt")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model.train(data="data.yaml", epochs=40, imgsz=640, batch=8)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Noteer jullie keuzes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imgsz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32918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Inputresolutie — hoger = betere detectie, trager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3749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Trainingsronden — meer = langer, risico op overfitting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4206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Beelden per stap — groter = sneller, meer geheugen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4663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drempel — hoger = minder maar zekerder detecties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5">
            <a:extLst>
              <a:ext uri="{FF2B5EF4-FFF2-40B4-BE49-F238E27FC236}">
                <a16:creationId xmlns:a16="http://schemas.microsoft.com/office/drawing/2014/main" id="{013EAF8E-6AF1-43BE-4C98-2239B72709FC}"/>
              </a:ext>
            </a:extLst>
          </p:cNvPr>
          <p:cNvSpPr/>
          <p:nvPr/>
        </p:nvSpPr>
        <p:spPr>
          <a:xfrm>
            <a:off x="731520" y="1327640"/>
            <a:ext cx="7680960" cy="548638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Evaluatie — Wat </a:t>
            </a:r>
            <a:r>
              <a:rPr lang="en-US" sz="3200" b="1" dirty="0" err="1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doet</a:t>
            </a: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je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227406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45920" y="122740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74720" y="122740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alle detecties: hoeveel % is correct?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80492"/>
            <a:ext cx="7680960" cy="548638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914400" y="2089051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45920" y="2089051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2089051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alle echte objecten: hoeveel % gevonden?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910818"/>
            <a:ext cx="7680960" cy="7315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914400" y="391081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Kijk niet naar 1 metric — bekijk het totaalplaatje!</a:t>
            </a:r>
            <a:endParaRPr lang="en-US" sz="15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0973F596-6D0B-8BDC-A58B-7AE12CC0141B}"/>
              </a:ext>
            </a:extLst>
          </p:cNvPr>
          <p:cNvSpPr/>
          <p:nvPr/>
        </p:nvSpPr>
        <p:spPr>
          <a:xfrm>
            <a:off x="731520" y="3045655"/>
            <a:ext cx="7680960" cy="548638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914400" y="2954215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2954215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954215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Gemiddelde precisie over alle klassen (IoU≥0.5)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Reflectie — 4 teamvragen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2801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werkte goed?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ging er mis?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1089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het aan de data, de labels of de training?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023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3 verbeteringen doen jullie in ronde 2?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8090">
              <a:alpha val="85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Onthoud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Goed labelen = goed model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Labels → Training → Evaluatie → Verbeteren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Vragen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4116</TotalTime>
  <Words>830</Words>
  <Application>Microsoft Office PowerPoint</Application>
  <PresentationFormat>Diavoorstelling (16:9)</PresentationFormat>
  <Paragraphs>208</Paragraphs>
  <Slides>18</Slides>
  <Notes>17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Trebuchet MS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4 — Eigen Dataset Labelen en Trainen</dc:title>
  <dc:subject>PptxGenJS Presentation</dc:subject>
  <dc:creator>Learning Community Smart Industry</dc:creator>
  <cp:lastModifiedBy>Reitsema, Klaas</cp:lastModifiedBy>
  <cp:revision>4</cp:revision>
  <dcterms:created xsi:type="dcterms:W3CDTF">2026-03-03T11:47:53Z</dcterms:created>
  <dcterms:modified xsi:type="dcterms:W3CDTF">2026-03-12T09:12:40Z</dcterms:modified>
</cp:coreProperties>
</file>