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sldIdLst>
    <p:sldId id="265" r:id="rId5"/>
    <p:sldId id="266" r:id="rId6"/>
    <p:sldId id="295" r:id="rId7"/>
    <p:sldId id="267" r:id="rId8"/>
    <p:sldId id="268" r:id="rId9"/>
    <p:sldId id="282" r:id="rId10"/>
    <p:sldId id="283" r:id="rId11"/>
    <p:sldId id="262" r:id="rId12"/>
    <p:sldId id="263" r:id="rId13"/>
    <p:sldId id="284" r:id="rId14"/>
    <p:sldId id="264" r:id="rId15"/>
    <p:sldId id="285" r:id="rId16"/>
    <p:sldId id="286" r:id="rId17"/>
    <p:sldId id="270" r:id="rId18"/>
    <p:sldId id="287" r:id="rId19"/>
    <p:sldId id="289" r:id="rId20"/>
    <p:sldId id="276" r:id="rId21"/>
    <p:sldId id="288" r:id="rId22"/>
    <p:sldId id="292" r:id="rId23"/>
    <p:sldId id="294" r:id="rId24"/>
    <p:sldId id="293" r:id="rId25"/>
    <p:sldId id="274" r:id="rId26"/>
    <p:sldId id="290" r:id="rId27"/>
    <p:sldId id="291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E50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4AAE5-87B4-4AA4-A384-05F53AB0B8B6}" v="5" dt="2026-04-07T08:14:47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68765" autoAdjust="0"/>
  </p:normalViewPr>
  <p:slideViewPr>
    <p:cSldViewPr snapToGrid="0" snapToObjects="1" showGuides="1">
      <p:cViewPr>
        <p:scale>
          <a:sx n="75" d="100"/>
          <a:sy n="75" d="100"/>
        </p:scale>
        <p:origin x="341" y="-50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utenbach" userId="9482b0b0-b910-4528-8037-599f5f4147d9" providerId="ADAL" clId="{D168CAAE-F8A7-49CE-BA99-4448B0B501EF}"/>
    <pc:docChg chg="custSel addSld delSld modSld">
      <pc:chgData name="Thomas Lautenbach" userId="9482b0b0-b910-4528-8037-599f5f4147d9" providerId="ADAL" clId="{D168CAAE-F8A7-49CE-BA99-4448B0B501EF}" dt="2026-04-07T08:14:47.548" v="56"/>
      <pc:docMkLst>
        <pc:docMk/>
      </pc:docMkLst>
      <pc:sldChg chg="del">
        <pc:chgData name="Thomas Lautenbach" userId="9482b0b0-b910-4528-8037-599f5f4147d9" providerId="ADAL" clId="{D168CAAE-F8A7-49CE-BA99-4448B0B501EF}" dt="2026-04-07T08:12:28.055" v="0" actId="47"/>
        <pc:sldMkLst>
          <pc:docMk/>
          <pc:sldMk cId="3073293024" sldId="259"/>
        </pc:sldMkLst>
      </pc:sldChg>
      <pc:sldChg chg="delSp modSp mod">
        <pc:chgData name="Thomas Lautenbach" userId="9482b0b0-b910-4528-8037-599f5f4147d9" providerId="ADAL" clId="{D168CAAE-F8A7-49CE-BA99-4448B0B501EF}" dt="2026-04-07T08:13:42.669" v="54" actId="20577"/>
        <pc:sldMkLst>
          <pc:docMk/>
          <pc:sldMk cId="3566401412" sldId="266"/>
        </pc:sldMkLst>
        <pc:spChg chg="mod">
          <ac:chgData name="Thomas Lautenbach" userId="9482b0b0-b910-4528-8037-599f5f4147d9" providerId="ADAL" clId="{D168CAAE-F8A7-49CE-BA99-4448B0B501EF}" dt="2026-04-07T08:13:42.669" v="54" actId="20577"/>
          <ac:spMkLst>
            <pc:docMk/>
            <pc:sldMk cId="3566401412" sldId="266"/>
            <ac:spMk id="4" creationId="{2235A509-C7AA-EB52-0069-CB5BD6EB5106}"/>
          </ac:spMkLst>
        </pc:spChg>
        <pc:picChg chg="del mod">
          <ac:chgData name="Thomas Lautenbach" userId="9482b0b0-b910-4528-8037-599f5f4147d9" providerId="ADAL" clId="{D168CAAE-F8A7-49CE-BA99-4448B0B501EF}" dt="2026-04-07T08:12:57.720" v="24" actId="21"/>
          <ac:picMkLst>
            <pc:docMk/>
            <pc:sldMk cId="3566401412" sldId="266"/>
            <ac:picMk id="6" creationId="{94F6B542-5629-E214-5311-29F1EBCD0A86}"/>
          </ac:picMkLst>
        </pc:picChg>
        <pc:picChg chg="del mod">
          <ac:chgData name="Thomas Lautenbach" userId="9482b0b0-b910-4528-8037-599f5f4147d9" providerId="ADAL" clId="{D168CAAE-F8A7-49CE-BA99-4448B0B501EF}" dt="2026-04-07T08:12:44.934" v="6" actId="21"/>
          <ac:picMkLst>
            <pc:docMk/>
            <pc:sldMk cId="3566401412" sldId="266"/>
            <ac:picMk id="8" creationId="{61C84297-7F0A-FDBF-0F05-ED800B840060}"/>
          </ac:picMkLst>
        </pc:picChg>
      </pc:sldChg>
      <pc:sldChg chg="addSp delSp modSp mod modAnim">
        <pc:chgData name="Thomas Lautenbach" userId="9482b0b0-b910-4528-8037-599f5f4147d9" providerId="ADAL" clId="{D168CAAE-F8A7-49CE-BA99-4448B0B501EF}" dt="2026-04-07T08:14:47.548" v="56"/>
        <pc:sldMkLst>
          <pc:docMk/>
          <pc:sldMk cId="2757694785" sldId="267"/>
        </pc:sldMkLst>
        <pc:picChg chg="add del mod">
          <ac:chgData name="Thomas Lautenbach" userId="9482b0b0-b910-4528-8037-599f5f4147d9" providerId="ADAL" clId="{D168CAAE-F8A7-49CE-BA99-4448B0B501EF}" dt="2026-04-07T08:13:04.998" v="27" actId="21"/>
          <ac:picMkLst>
            <pc:docMk/>
            <pc:sldMk cId="2757694785" sldId="267"/>
            <ac:picMk id="8" creationId="{61C84297-7F0A-FDBF-0F05-ED800B840060}"/>
          </ac:picMkLst>
        </pc:picChg>
      </pc:sldChg>
      <pc:sldChg chg="addSp modSp new mod">
        <pc:chgData name="Thomas Lautenbach" userId="9482b0b0-b910-4528-8037-599f5f4147d9" providerId="ADAL" clId="{D168CAAE-F8A7-49CE-BA99-4448B0B501EF}" dt="2026-04-07T08:13:07.755" v="29" actId="1076"/>
        <pc:sldMkLst>
          <pc:docMk/>
          <pc:sldMk cId="2123806978" sldId="295"/>
        </pc:sldMkLst>
        <pc:spChg chg="mod">
          <ac:chgData name="Thomas Lautenbach" userId="9482b0b0-b910-4528-8037-599f5f4147d9" providerId="ADAL" clId="{D168CAAE-F8A7-49CE-BA99-4448B0B501EF}" dt="2026-04-07T08:12:55.495" v="23" actId="20577"/>
          <ac:spMkLst>
            <pc:docMk/>
            <pc:sldMk cId="2123806978" sldId="295"/>
            <ac:spMk id="4" creationId="{43AD2617-E76C-2C25-83FE-C4EA0647D814}"/>
          </ac:spMkLst>
        </pc:spChg>
        <pc:picChg chg="add mod">
          <ac:chgData name="Thomas Lautenbach" userId="9482b0b0-b910-4528-8037-599f5f4147d9" providerId="ADAL" clId="{D168CAAE-F8A7-49CE-BA99-4448B0B501EF}" dt="2026-04-07T08:13:02.827" v="26" actId="1076"/>
          <ac:picMkLst>
            <pc:docMk/>
            <pc:sldMk cId="2123806978" sldId="295"/>
            <ac:picMk id="6" creationId="{94F6B542-5629-E214-5311-29F1EBCD0A86}"/>
          </ac:picMkLst>
        </pc:picChg>
        <pc:picChg chg="add mod">
          <ac:chgData name="Thomas Lautenbach" userId="9482b0b0-b910-4528-8037-599f5f4147d9" providerId="ADAL" clId="{D168CAAE-F8A7-49CE-BA99-4448B0B501EF}" dt="2026-04-07T08:13:07.755" v="29" actId="1076"/>
          <ac:picMkLst>
            <pc:docMk/>
            <pc:sldMk cId="2123806978" sldId="295"/>
            <ac:picMk id="8" creationId="{61C84297-7F0A-FDBF-0F05-ED800B8400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16261007-D337-4A97-AF82-811F77BE9512}" type="datetimeFigureOut">
              <a:rPr lang="nl-NL" smtClean="0"/>
              <a:pPr/>
              <a:t>7-4-2026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5EB975E7-4466-4875-9780-79F85FC725BE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989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0017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Voorbeeld — ETNA Koffiemachines: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ETNA wil controleren of alle onderdelen correct gemonteerd zijn vóór eindassemblage. Taak = </a:t>
            </a:r>
            <a:r>
              <a:rPr lang="nl-NL" b="1" dirty="0"/>
              <a:t>aanwezigheidscheck + positiebepaling</a:t>
            </a:r>
            <a:r>
              <a:rPr lang="nl-NL" dirty="0"/>
              <a:t>. Dit leidt direct naar 2D area scan, geen </a:t>
            </a:r>
            <a:r>
              <a:rPr lang="nl-NL" dirty="0" err="1"/>
              <a:t>Deep</a:t>
            </a:r>
            <a:r>
              <a:rPr lang="nl-NL" dirty="0"/>
              <a:t> Learning nodig, geen GPU vereist.</a:t>
            </a:r>
          </a:p>
          <a:p>
            <a:r>
              <a:rPr lang="nl-NL" b="1" dirty="0"/>
              <a:t>Voorbeeld — Mach-C Eieren &amp; Vuil: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Mach-C detecteert vuil en beschadigde eieren op een lopende band. Taak = </a:t>
            </a:r>
            <a:r>
              <a:rPr lang="nl-NL" b="1" dirty="0"/>
              <a:t>defect detectie met hoge variatie</a:t>
            </a:r>
            <a:r>
              <a:rPr lang="nl-NL" dirty="0"/>
              <a:t>. Vuil is onvoorspelbaar van vorm → </a:t>
            </a:r>
            <a:r>
              <a:rPr lang="nl-NL" dirty="0" err="1"/>
              <a:t>Deep</a:t>
            </a:r>
            <a:r>
              <a:rPr lang="nl-NL" dirty="0"/>
              <a:t> Learning verplicht.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4574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3695-32F9-8219-0415-316253B0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2DC3A-D68B-E9E3-E9C7-5617A1643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BDF58-D1FD-C4AE-C263-F7E4316BC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A([START: </a:t>
            </a:r>
            <a:r>
              <a:rPr lang="nl-NL" dirty="0" err="1"/>
              <a:t>Vision</a:t>
            </a:r>
            <a:r>
              <a:rPr lang="nl-NL" dirty="0"/>
              <a:t> systeem nodig]) --&gt; B{Wat moet het systeem doen?}</a:t>
            </a:r>
          </a:p>
          <a:p>
            <a:endParaRPr lang="nl-NL" dirty="0"/>
          </a:p>
          <a:p>
            <a:r>
              <a:rPr lang="nl-NL" dirty="0"/>
              <a:t>    B --&gt; |Meten / Positiebepaling| C1{Maattolerantie kleiner dan 0.1mm?}</a:t>
            </a:r>
          </a:p>
          <a:p>
            <a:r>
              <a:rPr lang="nl-NL" dirty="0"/>
              <a:t>    B --&gt; |Defect detectie| C2{Defecten variabel of onvoorspelbaar?}</a:t>
            </a:r>
          </a:p>
          <a:p>
            <a:r>
              <a:rPr lang="nl-NL" dirty="0"/>
              <a:t>    B --&gt; |Aanwezigheid / telling| C3[Eenvoudige aanwezigheidscheck]</a:t>
            </a:r>
          </a:p>
          <a:p>
            <a:r>
              <a:rPr lang="nl-NL" dirty="0"/>
              <a:t>    B --&gt; |Identificatie / OCR / barcode| C4[Lezen of herkennen]</a:t>
            </a:r>
          </a:p>
          <a:p>
            <a:endParaRPr lang="nl-NL" dirty="0"/>
          </a:p>
          <a:p>
            <a:r>
              <a:rPr lang="nl-NL" dirty="0"/>
              <a:t>    C1 --&gt; |Ja| D1[3D </a:t>
            </a:r>
            <a:r>
              <a:rPr lang="nl-NL" dirty="0" err="1"/>
              <a:t>Vision</a:t>
            </a:r>
            <a:r>
              <a:rPr lang="nl-NL" dirty="0"/>
              <a:t> of Lijnscancamera]</a:t>
            </a:r>
          </a:p>
          <a:p>
            <a:r>
              <a:rPr lang="nl-NL" dirty="0"/>
              <a:t>    C1 --&gt; |Nee| D2[2D Area scan camera]</a:t>
            </a:r>
          </a:p>
          <a:p>
            <a:endParaRPr lang="nl-NL" dirty="0"/>
          </a:p>
          <a:p>
            <a:r>
              <a:rPr lang="nl-NL" dirty="0"/>
              <a:t>    C2 --&gt; |Ja, veel variatie| D3[</a:t>
            </a:r>
            <a:r>
              <a:rPr lang="nl-NL" dirty="0" err="1"/>
              <a:t>Deep</a:t>
            </a:r>
            <a:r>
              <a:rPr lang="nl-NL" dirty="0"/>
              <a:t> Learning]</a:t>
            </a:r>
          </a:p>
          <a:p>
            <a:r>
              <a:rPr lang="nl-NL" dirty="0"/>
              <a:t>    C2 --&gt; |Nee, vaste patronen| D4[Traditionele </a:t>
            </a:r>
            <a:r>
              <a:rPr lang="nl-NL" dirty="0" err="1"/>
              <a:t>Vision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C3 --&gt; D4</a:t>
            </a:r>
          </a:p>
          <a:p>
            <a:r>
              <a:rPr lang="nl-NL" dirty="0"/>
              <a:t>    C4 --&gt; D4</a:t>
            </a:r>
          </a:p>
          <a:p>
            <a:endParaRPr lang="nl-NL" dirty="0"/>
          </a:p>
          <a:p>
            <a:r>
              <a:rPr lang="nl-NL" dirty="0"/>
              <a:t>    D3 --&gt; E1{Budget?}</a:t>
            </a:r>
          </a:p>
          <a:p>
            <a:r>
              <a:rPr lang="nl-NL" dirty="0"/>
              <a:t>    D4 --&gt; E2{Budget?}</a:t>
            </a:r>
          </a:p>
          <a:p>
            <a:r>
              <a:rPr lang="nl-NL" dirty="0"/>
              <a:t>    D1 --&gt; E1</a:t>
            </a:r>
          </a:p>
          <a:p>
            <a:r>
              <a:rPr lang="nl-NL" dirty="0"/>
              <a:t>    D2 --&gt; E2</a:t>
            </a:r>
          </a:p>
          <a:p>
            <a:endParaRPr lang="nl-NL" dirty="0"/>
          </a:p>
          <a:p>
            <a:r>
              <a:rPr lang="nl-NL" dirty="0"/>
              <a:t>    E1 --&gt; |groter dan 15.000 euro| F1[PC-</a:t>
            </a:r>
            <a:r>
              <a:rPr lang="nl-NL" dirty="0" err="1"/>
              <a:t>based</a:t>
            </a:r>
            <a:r>
              <a:rPr lang="nl-NL" dirty="0"/>
              <a:t> systeem met GPU]</a:t>
            </a:r>
          </a:p>
          <a:p>
            <a:r>
              <a:rPr lang="nl-NL" dirty="0"/>
              <a:t>    E1 --&gt; |5.000 tot 15.000 euro| F2[</a:t>
            </a:r>
            <a:r>
              <a:rPr lang="nl-NL" dirty="0" err="1"/>
              <a:t>Edge</a:t>
            </a:r>
            <a:r>
              <a:rPr lang="nl-NL" dirty="0"/>
              <a:t> AI device bijv. NVIDIA </a:t>
            </a:r>
            <a:r>
              <a:rPr lang="nl-NL" dirty="0" err="1"/>
              <a:t>Jetson</a:t>
            </a:r>
            <a:r>
              <a:rPr lang="nl-NL" dirty="0"/>
              <a:t>]</a:t>
            </a:r>
          </a:p>
          <a:p>
            <a:r>
              <a:rPr lang="nl-NL" dirty="0"/>
              <a:t>    E1 --&gt; |500 tot 5.000 euro| F3[</a:t>
            </a:r>
            <a:r>
              <a:rPr lang="nl-NL" dirty="0" err="1"/>
              <a:t>Raspberry</a:t>
            </a:r>
            <a:r>
              <a:rPr lang="nl-NL" dirty="0"/>
              <a:t> Pi 5 met Hailo AI HAT]</a:t>
            </a:r>
          </a:p>
          <a:p>
            <a:r>
              <a:rPr lang="nl-NL" dirty="0"/>
              <a:t>    E1 --&gt; |kleiner dan 500 euro| F4[</a:t>
            </a:r>
            <a:r>
              <a:rPr lang="nl-NL" dirty="0" err="1"/>
              <a:t>Raspberry</a:t>
            </a:r>
            <a:r>
              <a:rPr lang="nl-NL" dirty="0"/>
              <a:t> Pi 4 of Pi Zero 2W - beperkte AI]</a:t>
            </a:r>
          </a:p>
          <a:p>
            <a:endParaRPr lang="nl-NL" dirty="0"/>
          </a:p>
          <a:p>
            <a:r>
              <a:rPr lang="nl-NL" dirty="0"/>
              <a:t>    E2 --&gt; |groter dan 10.000 euro| F5[PC-</a:t>
            </a:r>
            <a:r>
              <a:rPr lang="nl-NL" dirty="0" err="1"/>
              <a:t>based</a:t>
            </a:r>
            <a:r>
              <a:rPr lang="nl-NL" dirty="0"/>
              <a:t> systeem]</a:t>
            </a:r>
          </a:p>
          <a:p>
            <a:r>
              <a:rPr lang="nl-NL" dirty="0"/>
              <a:t>    E2 --&gt; |3.000 tot 10.000 euro| F6[Smart Camera of Compact </a:t>
            </a:r>
            <a:r>
              <a:rPr lang="nl-NL" dirty="0" err="1"/>
              <a:t>Vision</a:t>
            </a:r>
            <a:r>
              <a:rPr lang="nl-NL" dirty="0"/>
              <a:t>]</a:t>
            </a:r>
          </a:p>
          <a:p>
            <a:r>
              <a:rPr lang="nl-NL" dirty="0"/>
              <a:t>    E2 --&gt; |100 tot 3.000 euro| F7[USB3 camera met laptop of PC]</a:t>
            </a:r>
          </a:p>
          <a:p>
            <a:r>
              <a:rPr lang="nl-NL" dirty="0"/>
              <a:t>    E2 --&gt; |kleiner dan 100 euro| F8[</a:t>
            </a:r>
            <a:r>
              <a:rPr lang="nl-NL" dirty="0" err="1"/>
              <a:t>Raspberry</a:t>
            </a:r>
            <a:r>
              <a:rPr lang="nl-NL" dirty="0"/>
              <a:t> Pi Camera Module - eenvoudige taken]</a:t>
            </a:r>
          </a:p>
          <a:p>
            <a:endParaRPr lang="nl-NL" dirty="0"/>
          </a:p>
          <a:p>
            <a:r>
              <a:rPr lang="nl-NL" dirty="0"/>
              <a:t>    F1 --&gt; G([Ga naar verdiepte boom: Camera + Interface + Belichting + </a:t>
            </a:r>
            <a:r>
              <a:rPr lang="nl-NL" dirty="0" err="1"/>
              <a:t>Calibratie</a:t>
            </a:r>
            <a:r>
              <a:rPr lang="nl-NL" dirty="0"/>
              <a:t>])</a:t>
            </a:r>
          </a:p>
          <a:p>
            <a:r>
              <a:rPr lang="nl-NL" dirty="0"/>
              <a:t>    F2 --&gt; G</a:t>
            </a:r>
          </a:p>
          <a:p>
            <a:r>
              <a:rPr lang="nl-NL" dirty="0"/>
              <a:t>    F3 --&gt; G</a:t>
            </a:r>
          </a:p>
          <a:p>
            <a:r>
              <a:rPr lang="nl-NL" dirty="0"/>
              <a:t>    F4 --&gt; G</a:t>
            </a:r>
          </a:p>
          <a:p>
            <a:r>
              <a:rPr lang="nl-NL" dirty="0"/>
              <a:t>    F5 --&gt; G</a:t>
            </a:r>
          </a:p>
          <a:p>
            <a:r>
              <a:rPr lang="nl-NL" dirty="0"/>
              <a:t>    F6 --&gt; G</a:t>
            </a:r>
          </a:p>
          <a:p>
            <a:r>
              <a:rPr lang="nl-NL" dirty="0"/>
              <a:t>    F7 --&gt; G</a:t>
            </a:r>
          </a:p>
          <a:p>
            <a:r>
              <a:rPr lang="nl-NL" dirty="0"/>
              <a:t>    F8 --&gt; G</a:t>
            </a:r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A7791-1E2F-0911-B04F-166934585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722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A([Verwerkingstechnologie kiezen]) --&gt; B{Zijn defecten en variaties voorspelbaar en herhaalbaar?}</a:t>
            </a:r>
          </a:p>
          <a:p>
            <a:endParaRPr lang="nl-NL" dirty="0"/>
          </a:p>
          <a:p>
            <a:r>
              <a:rPr lang="nl-NL" dirty="0"/>
              <a:t>    B --&gt; |Ja, vaste regels mogelijk| C{Zijn omgevingscondities stabiel?}</a:t>
            </a:r>
          </a:p>
          <a:p>
            <a:r>
              <a:rPr lang="nl-NL" dirty="0"/>
              <a:t>    B --&gt; |Nee, hoge variatie| D[</a:t>
            </a:r>
            <a:r>
              <a:rPr lang="nl-NL" dirty="0" err="1"/>
              <a:t>Deep</a:t>
            </a:r>
            <a:r>
              <a:rPr lang="nl-NL" dirty="0"/>
              <a:t> Learning CNN / YOLO / segmentatie]</a:t>
            </a:r>
          </a:p>
          <a:p>
            <a:endParaRPr lang="nl-NL" dirty="0"/>
          </a:p>
          <a:p>
            <a:r>
              <a:rPr lang="nl-NL" dirty="0"/>
              <a:t>    C --&gt; |Ja| E[Traditionele </a:t>
            </a:r>
            <a:r>
              <a:rPr lang="nl-NL" dirty="0" err="1"/>
              <a:t>Vision</a:t>
            </a:r>
            <a:r>
              <a:rPr lang="nl-NL" dirty="0"/>
              <a:t> </a:t>
            </a:r>
            <a:r>
              <a:rPr lang="nl-NL" dirty="0" err="1"/>
              <a:t>regelgebaseerd</a:t>
            </a:r>
            <a:r>
              <a:rPr lang="nl-NL" dirty="0"/>
              <a:t>]</a:t>
            </a:r>
          </a:p>
          <a:p>
            <a:r>
              <a:rPr lang="nl-NL" dirty="0"/>
              <a:t>    C --&gt; |Nee, wisselend licht of reflectie| F{Hoeveel trainingsdata beschikbaar?}</a:t>
            </a:r>
          </a:p>
          <a:p>
            <a:endParaRPr lang="nl-NL" dirty="0"/>
          </a:p>
          <a:p>
            <a:r>
              <a:rPr lang="nl-NL" dirty="0"/>
              <a:t>    F --&gt; |meer dan 500 gelabelde afbeeldingen| D</a:t>
            </a:r>
          </a:p>
          <a:p>
            <a:r>
              <a:rPr lang="nl-NL" dirty="0"/>
              <a:t>    F --&gt; |minder dan 500 afbeeldingen| G{Synthetische data </a:t>
            </a:r>
            <a:r>
              <a:rPr lang="nl-NL" dirty="0" err="1"/>
              <a:t>genereerbaar</a:t>
            </a:r>
            <a:r>
              <a:rPr lang="nl-NL" dirty="0"/>
              <a:t>?}</a:t>
            </a:r>
          </a:p>
          <a:p>
            <a:endParaRPr lang="nl-NL" dirty="0"/>
          </a:p>
          <a:p>
            <a:r>
              <a:rPr lang="nl-NL" dirty="0"/>
              <a:t>    G --&gt; |Ja| D</a:t>
            </a:r>
          </a:p>
          <a:p>
            <a:r>
              <a:rPr lang="nl-NL" dirty="0"/>
              <a:t>    G --&gt; |Nee| H[Traditionele </a:t>
            </a:r>
            <a:r>
              <a:rPr lang="nl-NL" dirty="0" err="1"/>
              <a:t>Vision</a:t>
            </a:r>
            <a:r>
              <a:rPr lang="nl-NL" dirty="0"/>
              <a:t> met robuuste belichting]</a:t>
            </a:r>
          </a:p>
          <a:p>
            <a:endParaRPr lang="nl-NL" dirty="0"/>
          </a:p>
          <a:p>
            <a:r>
              <a:rPr lang="nl-NL" dirty="0"/>
              <a:t>    D --&gt; I{Uitlegbaarheid vereist bijv. ISO of klanteis?}</a:t>
            </a:r>
          </a:p>
          <a:p>
            <a:r>
              <a:rPr lang="nl-NL" dirty="0"/>
              <a:t>    I --&gt; |Ja| J[</a:t>
            </a:r>
            <a:r>
              <a:rPr lang="nl-NL" dirty="0" err="1"/>
              <a:t>Deep</a:t>
            </a:r>
            <a:r>
              <a:rPr lang="nl-NL" dirty="0"/>
              <a:t> Learning met </a:t>
            </a:r>
            <a:r>
              <a:rPr lang="nl-NL" dirty="0" err="1"/>
              <a:t>explainability</a:t>
            </a:r>
            <a:r>
              <a:rPr lang="nl-NL" dirty="0"/>
              <a:t> tools bijv. </a:t>
            </a:r>
            <a:r>
              <a:rPr lang="nl-NL" dirty="0" err="1"/>
              <a:t>Grad</a:t>
            </a:r>
            <a:r>
              <a:rPr lang="nl-NL" dirty="0"/>
              <a:t>-CAM]</a:t>
            </a:r>
          </a:p>
          <a:p>
            <a:r>
              <a:rPr lang="nl-NL" dirty="0"/>
              <a:t>    I --&gt; |Nee| K[Standaard </a:t>
            </a:r>
            <a:r>
              <a:rPr lang="nl-NL" dirty="0" err="1"/>
              <a:t>Deep</a:t>
            </a:r>
            <a:r>
              <a:rPr lang="nl-NL" dirty="0"/>
              <a:t> Learning pipeline]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72840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A([Hardware platform kiezen]) --&gt; B{Verwerkingstechnologie?}</a:t>
            </a:r>
          </a:p>
          <a:p>
            <a:endParaRPr lang="nl-NL" dirty="0"/>
          </a:p>
          <a:p>
            <a:r>
              <a:rPr lang="nl-NL" dirty="0"/>
              <a:t>    B --&gt; |Traditionele </a:t>
            </a:r>
            <a:r>
              <a:rPr lang="nl-NL" dirty="0" err="1"/>
              <a:t>Vision</a:t>
            </a:r>
            <a:r>
              <a:rPr lang="nl-NL" dirty="0"/>
              <a:t>| C{Aantal </a:t>
            </a:r>
            <a:r>
              <a:rPr lang="nl-NL" dirty="0" err="1"/>
              <a:t>cameras</a:t>
            </a:r>
            <a:r>
              <a:rPr lang="nl-NL" dirty="0"/>
              <a:t>?}</a:t>
            </a:r>
          </a:p>
          <a:p>
            <a:r>
              <a:rPr lang="nl-NL" dirty="0"/>
              <a:t>    B --&gt; |</a:t>
            </a:r>
            <a:r>
              <a:rPr lang="nl-NL" dirty="0" err="1"/>
              <a:t>Deep</a:t>
            </a:r>
            <a:r>
              <a:rPr lang="nl-NL" dirty="0"/>
              <a:t> Learning| D{</a:t>
            </a:r>
            <a:r>
              <a:rPr lang="nl-NL" dirty="0" err="1"/>
              <a:t>Realtime</a:t>
            </a:r>
            <a:r>
              <a:rPr lang="nl-NL" dirty="0"/>
              <a:t> inferentie vereist onder 100ms?}</a:t>
            </a:r>
          </a:p>
          <a:p>
            <a:endParaRPr lang="nl-NL" dirty="0"/>
          </a:p>
          <a:p>
            <a:r>
              <a:rPr lang="nl-NL" dirty="0"/>
              <a:t>    C --&gt; |1 of 2 </a:t>
            </a:r>
            <a:r>
              <a:rPr lang="nl-NL" dirty="0" err="1"/>
              <a:t>cameras</a:t>
            </a:r>
            <a:r>
              <a:rPr lang="nl-NL" dirty="0"/>
              <a:t>| E[Smart Camera bijv. </a:t>
            </a:r>
            <a:r>
              <a:rPr lang="nl-NL" dirty="0" err="1"/>
              <a:t>Cognex</a:t>
            </a:r>
            <a:r>
              <a:rPr lang="nl-NL" dirty="0"/>
              <a:t>, </a:t>
            </a:r>
            <a:r>
              <a:rPr lang="nl-NL" dirty="0" err="1"/>
              <a:t>Keyence</a:t>
            </a:r>
            <a:r>
              <a:rPr lang="nl-NL" dirty="0"/>
              <a:t>]</a:t>
            </a:r>
          </a:p>
          <a:p>
            <a:r>
              <a:rPr lang="nl-NL" dirty="0"/>
              <a:t>    C --&gt; |3 of meer </a:t>
            </a:r>
            <a:r>
              <a:rPr lang="nl-NL" dirty="0" err="1"/>
              <a:t>cameras</a:t>
            </a:r>
            <a:r>
              <a:rPr lang="nl-NL" dirty="0"/>
              <a:t>| F[PC-</a:t>
            </a:r>
            <a:r>
              <a:rPr lang="nl-NL" dirty="0" err="1"/>
              <a:t>based</a:t>
            </a:r>
            <a:r>
              <a:rPr lang="nl-NL" dirty="0"/>
              <a:t> systeem]</a:t>
            </a:r>
          </a:p>
          <a:p>
            <a:endParaRPr lang="nl-NL" dirty="0"/>
          </a:p>
          <a:p>
            <a:r>
              <a:rPr lang="nl-NL" dirty="0"/>
              <a:t>    D --&gt; |Ja| G{Internetverbinding beschikbaar en toegestaan?}</a:t>
            </a:r>
          </a:p>
          <a:p>
            <a:r>
              <a:rPr lang="nl-NL" dirty="0"/>
              <a:t>    D --&gt; |Nee, batch verwerking acceptabel| H[Cloud-</a:t>
            </a:r>
            <a:r>
              <a:rPr lang="nl-NL" dirty="0" err="1"/>
              <a:t>based</a:t>
            </a:r>
            <a:r>
              <a:rPr lang="nl-NL" dirty="0"/>
              <a:t> inferentie bijv. </a:t>
            </a:r>
            <a:r>
              <a:rPr lang="nl-NL" dirty="0" err="1"/>
              <a:t>Azure</a:t>
            </a:r>
            <a:r>
              <a:rPr lang="nl-NL" dirty="0"/>
              <a:t> </a:t>
            </a:r>
            <a:r>
              <a:rPr lang="nl-NL" dirty="0" err="1"/>
              <a:t>Vision</a:t>
            </a:r>
            <a:r>
              <a:rPr lang="nl-NL" dirty="0"/>
              <a:t> of AWS]</a:t>
            </a:r>
          </a:p>
          <a:p>
            <a:endParaRPr lang="nl-NL" dirty="0"/>
          </a:p>
          <a:p>
            <a:r>
              <a:rPr lang="nl-NL" dirty="0"/>
              <a:t>    G --&gt; |Nee, offline vereist| I{Zwaar model groter dan 10M parameters?}</a:t>
            </a:r>
          </a:p>
          <a:p>
            <a:r>
              <a:rPr lang="nl-NL" dirty="0"/>
              <a:t>    G --&gt; |Ja maar </a:t>
            </a:r>
            <a:r>
              <a:rPr lang="nl-NL" dirty="0" err="1"/>
              <a:t>latency</a:t>
            </a:r>
            <a:r>
              <a:rPr lang="nl-NL" dirty="0"/>
              <a:t> onder 50ms| J[</a:t>
            </a:r>
            <a:r>
              <a:rPr lang="nl-NL" dirty="0" err="1"/>
              <a:t>Edge</a:t>
            </a:r>
            <a:r>
              <a:rPr lang="nl-NL" dirty="0"/>
              <a:t> plus Cloud </a:t>
            </a:r>
            <a:r>
              <a:rPr lang="nl-NL" dirty="0" err="1"/>
              <a:t>hybrid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I --&gt; |Ja| K[PC met NVIDIA GPU bijv. RTX 4000 of A2000]</a:t>
            </a:r>
          </a:p>
          <a:p>
            <a:r>
              <a:rPr lang="nl-NL" dirty="0"/>
              <a:t>    I --&gt; |Nee, licht model| L{Budget?}</a:t>
            </a:r>
          </a:p>
          <a:p>
            <a:endParaRPr lang="nl-NL" dirty="0"/>
          </a:p>
          <a:p>
            <a:r>
              <a:rPr lang="nl-NL" dirty="0"/>
              <a:t>    L --&gt; |500 tot 5.000 euro| M[</a:t>
            </a:r>
            <a:r>
              <a:rPr lang="nl-NL" dirty="0" err="1"/>
              <a:t>Raspberry</a:t>
            </a:r>
            <a:r>
              <a:rPr lang="nl-NL" dirty="0"/>
              <a:t> Pi 5 met Hailo-8 AI HAT 26 TOPS]</a:t>
            </a:r>
          </a:p>
          <a:p>
            <a:r>
              <a:rPr lang="nl-NL" dirty="0"/>
              <a:t>    L --&gt; |5.000 tot 15.000 euro| N[NVIDIA </a:t>
            </a:r>
            <a:r>
              <a:rPr lang="nl-NL" dirty="0" err="1"/>
              <a:t>Jetson</a:t>
            </a:r>
            <a:r>
              <a:rPr lang="nl-NL" dirty="0"/>
              <a:t> </a:t>
            </a:r>
            <a:r>
              <a:rPr lang="nl-NL" dirty="0" err="1"/>
              <a:t>Orin</a:t>
            </a:r>
            <a:r>
              <a:rPr lang="nl-NL" dirty="0"/>
              <a:t> NX of Nano]</a:t>
            </a:r>
          </a:p>
          <a:p>
            <a:r>
              <a:rPr lang="nl-NL" dirty="0"/>
              <a:t>    L --&gt; |kleiner dan 500 euro| O[</a:t>
            </a:r>
            <a:r>
              <a:rPr lang="nl-NL" dirty="0" err="1"/>
              <a:t>Raspberry</a:t>
            </a:r>
            <a:r>
              <a:rPr lang="nl-NL" dirty="0"/>
              <a:t> Pi 4 of Pi Zero 2W beperkt tot eenvoudige modellen]</a:t>
            </a:r>
          </a:p>
          <a:p>
            <a:endParaRPr lang="nl-NL" dirty="0"/>
          </a:p>
          <a:p>
            <a:r>
              <a:rPr lang="nl-NL" dirty="0"/>
              <a:t>    K --&gt; P{Ruimte en IP-bescherming vereist?}</a:t>
            </a:r>
          </a:p>
          <a:p>
            <a:r>
              <a:rPr lang="nl-NL" dirty="0"/>
              <a:t>    N --&gt; P</a:t>
            </a:r>
          </a:p>
          <a:p>
            <a:endParaRPr lang="nl-NL" dirty="0"/>
          </a:p>
          <a:p>
            <a:r>
              <a:rPr lang="nl-NL" dirty="0"/>
              <a:t>    P --&gt; |Ja IP65 of compactheid vereist| Q[</a:t>
            </a:r>
            <a:r>
              <a:rPr lang="nl-NL" dirty="0" err="1"/>
              <a:t>Industriele</a:t>
            </a:r>
            <a:r>
              <a:rPr lang="nl-NL" dirty="0"/>
              <a:t> </a:t>
            </a:r>
            <a:r>
              <a:rPr lang="nl-NL" dirty="0" err="1"/>
              <a:t>embedded</a:t>
            </a:r>
            <a:r>
              <a:rPr lang="nl-NL" dirty="0"/>
              <a:t> PC bijv. </a:t>
            </a:r>
            <a:r>
              <a:rPr lang="nl-NL" dirty="0" err="1"/>
              <a:t>Beckhoff</a:t>
            </a:r>
            <a:r>
              <a:rPr lang="nl-NL" dirty="0"/>
              <a:t> of </a:t>
            </a:r>
            <a:r>
              <a:rPr lang="nl-NL" dirty="0" err="1"/>
              <a:t>Advantech</a:t>
            </a:r>
            <a:r>
              <a:rPr lang="nl-NL" dirty="0"/>
              <a:t>]</a:t>
            </a:r>
          </a:p>
          <a:p>
            <a:r>
              <a:rPr lang="nl-NL" dirty="0"/>
              <a:t>    P --&gt; |Nee, standaard omgeving| R[Standaard </a:t>
            </a:r>
            <a:r>
              <a:rPr lang="nl-NL" dirty="0" err="1"/>
              <a:t>industriele</a:t>
            </a:r>
            <a:r>
              <a:rPr lang="nl-NL" dirty="0"/>
              <a:t> PC]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8215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A([Cameratype kiezen]) --&gt; B{Beweegt het object continu langs de camera?}</a:t>
            </a:r>
          </a:p>
          <a:p>
            <a:endParaRPr lang="nl-NL" dirty="0"/>
          </a:p>
          <a:p>
            <a:r>
              <a:rPr lang="nl-NL" dirty="0"/>
              <a:t>    B --&gt; |Ja, lopende band of </a:t>
            </a:r>
            <a:r>
              <a:rPr lang="nl-NL" dirty="0" err="1"/>
              <a:t>webmateriaal</a:t>
            </a:r>
            <a:r>
              <a:rPr lang="nl-NL" dirty="0"/>
              <a:t>| C[Lijnscancamera line-scan]</a:t>
            </a:r>
          </a:p>
          <a:p>
            <a:r>
              <a:rPr lang="nl-NL" dirty="0"/>
              <a:t>    B --&gt; |Nee, stilstaand of stap-voor-stap| D{Is diepte-informatie nodig?}</a:t>
            </a:r>
          </a:p>
          <a:p>
            <a:endParaRPr lang="nl-NL" dirty="0"/>
          </a:p>
          <a:p>
            <a:r>
              <a:rPr lang="nl-NL" dirty="0"/>
              <a:t>    D --&gt; |Ja, 3D meting of robot grijpen| E{Nauwkeurigheid vereist?}</a:t>
            </a:r>
          </a:p>
          <a:p>
            <a:r>
              <a:rPr lang="nl-NL" dirty="0"/>
              <a:t>    D --&gt; |Nee, 2D volstaat| F{Is kleur relevant voor detectie?}</a:t>
            </a:r>
          </a:p>
          <a:p>
            <a:endParaRPr lang="nl-NL" dirty="0"/>
          </a:p>
          <a:p>
            <a:r>
              <a:rPr lang="nl-NL" dirty="0"/>
              <a:t>    E --&gt; |kleiner dan 0.5mm tolerantie| G[</a:t>
            </a:r>
            <a:r>
              <a:rPr lang="nl-NL" dirty="0" err="1"/>
              <a:t>Structured</a:t>
            </a:r>
            <a:r>
              <a:rPr lang="nl-NL" dirty="0"/>
              <a:t> Light of Laser Triangulatie]</a:t>
            </a:r>
          </a:p>
          <a:p>
            <a:r>
              <a:rPr lang="nl-NL" dirty="0"/>
              <a:t>    E --&gt; |0.5mm tot 5mm tolerantie| H[Stereo </a:t>
            </a:r>
            <a:r>
              <a:rPr lang="nl-NL" dirty="0" err="1"/>
              <a:t>Vision</a:t>
            </a:r>
            <a:r>
              <a:rPr lang="nl-NL" dirty="0"/>
              <a:t> of Time-of-Flight]</a:t>
            </a:r>
          </a:p>
          <a:p>
            <a:r>
              <a:rPr lang="nl-NL" dirty="0"/>
              <a:t>    E --&gt; |Alleen aanwezigheid of globale vorm| I[</a:t>
            </a:r>
            <a:r>
              <a:rPr lang="nl-NL" dirty="0" err="1"/>
              <a:t>ToF</a:t>
            </a:r>
            <a:r>
              <a:rPr lang="nl-NL" dirty="0"/>
              <a:t> of 2.5D profielscanner]</a:t>
            </a:r>
          </a:p>
          <a:p>
            <a:endParaRPr lang="nl-NL" dirty="0"/>
          </a:p>
          <a:p>
            <a:r>
              <a:rPr lang="nl-NL" dirty="0"/>
              <a:t>    F --&gt; |Ja, kleur is kenmerk| J[Kleurencamera RGB]</a:t>
            </a:r>
          </a:p>
          <a:p>
            <a:r>
              <a:rPr lang="nl-NL" dirty="0"/>
              <a:t>    F --&gt; |Nee, contrast volstaat| K[Monochroom camera hogere gevoeligheid]</a:t>
            </a:r>
          </a:p>
          <a:p>
            <a:endParaRPr lang="nl-NL" dirty="0"/>
          </a:p>
          <a:p>
            <a:r>
              <a:rPr lang="nl-NL" dirty="0"/>
              <a:t>    K --&gt; L{Spectrale kenmerken buiten zichtbaar licht?}</a:t>
            </a:r>
          </a:p>
          <a:p>
            <a:r>
              <a:rPr lang="nl-NL" dirty="0"/>
              <a:t>    L --&gt; |Ja, warmte of temperatuur| M[Thermische camera LWIR]</a:t>
            </a:r>
          </a:p>
          <a:p>
            <a:r>
              <a:rPr lang="nl-NL" dirty="0"/>
              <a:t>    L --&gt; |Ja, oppervlaktecontrast verbeteren| N[NIR </a:t>
            </a:r>
            <a:r>
              <a:rPr lang="nl-NL" dirty="0" err="1"/>
              <a:t>near-infrared</a:t>
            </a:r>
            <a:r>
              <a:rPr lang="nl-NL" dirty="0"/>
              <a:t> camera]</a:t>
            </a:r>
          </a:p>
          <a:p>
            <a:r>
              <a:rPr lang="nl-NL" dirty="0"/>
              <a:t>    L --&gt; |Nee| O[Standaard monochroom CMOS]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7070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66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A([Camera </a:t>
            </a:r>
            <a:r>
              <a:rPr lang="nl-NL" dirty="0" err="1"/>
              <a:t>specs</a:t>
            </a:r>
            <a:r>
              <a:rPr lang="nl-NL" dirty="0"/>
              <a:t> bepalen]) --&gt; B{Wat is de kleinste te detecteren feature?}</a:t>
            </a:r>
          </a:p>
          <a:p>
            <a:endParaRPr lang="nl-NL" dirty="0"/>
          </a:p>
          <a:p>
            <a:r>
              <a:rPr lang="nl-NL" dirty="0"/>
              <a:t>    B --&gt; |kleiner dan 0.05mm| C[meer dan 12 Megapixel of lijnscancamera]</a:t>
            </a:r>
          </a:p>
          <a:p>
            <a:r>
              <a:rPr lang="nl-NL" dirty="0"/>
              <a:t>    B --&gt; |0.05mm tot 0.5mm| D[5 tot 12 Megapixel]</a:t>
            </a:r>
          </a:p>
          <a:p>
            <a:r>
              <a:rPr lang="nl-NL" dirty="0"/>
              <a:t>    B --&gt; |groter dan 0.5mm| E[2 tot 5 Megapixel volstaat]</a:t>
            </a:r>
          </a:p>
          <a:p>
            <a:endParaRPr lang="nl-NL" dirty="0"/>
          </a:p>
          <a:p>
            <a:r>
              <a:rPr lang="nl-NL" dirty="0"/>
              <a:t>    E --&gt; F{Wat is de maximale objectsnelheid?}</a:t>
            </a:r>
          </a:p>
          <a:p>
            <a:r>
              <a:rPr lang="nl-NL" dirty="0"/>
              <a:t>    D --&gt; F</a:t>
            </a:r>
          </a:p>
          <a:p>
            <a:r>
              <a:rPr lang="nl-NL" dirty="0"/>
              <a:t>    C --&gt; F</a:t>
            </a:r>
          </a:p>
          <a:p>
            <a:endParaRPr lang="nl-NL" dirty="0"/>
          </a:p>
          <a:p>
            <a:r>
              <a:rPr lang="nl-NL" dirty="0"/>
              <a:t>    F --&gt; |kleiner dan 0.5 m/s| G[Standaard </a:t>
            </a:r>
            <a:r>
              <a:rPr lang="nl-NL" dirty="0" err="1"/>
              <a:t>framerate</a:t>
            </a:r>
            <a:r>
              <a:rPr lang="nl-NL" dirty="0"/>
              <a:t> 30 tot 60 </a:t>
            </a:r>
            <a:r>
              <a:rPr lang="nl-NL" dirty="0" err="1"/>
              <a:t>fps</a:t>
            </a:r>
            <a:r>
              <a:rPr lang="nl-NL" dirty="0"/>
              <a:t>]</a:t>
            </a:r>
          </a:p>
          <a:p>
            <a:r>
              <a:rPr lang="nl-NL" dirty="0"/>
              <a:t>    F --&gt; |0.5 tot 3 m/s| H[100 tot 500 </a:t>
            </a:r>
            <a:r>
              <a:rPr lang="nl-NL" dirty="0" err="1"/>
              <a:t>fps</a:t>
            </a:r>
            <a:r>
              <a:rPr lang="nl-NL" dirty="0"/>
              <a:t> of flitsbelichting]</a:t>
            </a:r>
          </a:p>
          <a:p>
            <a:r>
              <a:rPr lang="nl-NL" dirty="0"/>
              <a:t>    F --&gt; |groter dan 3 m/s| I[High-speed camera boven 500 </a:t>
            </a:r>
            <a:r>
              <a:rPr lang="nl-NL" dirty="0" err="1"/>
              <a:t>fps</a:t>
            </a:r>
            <a:r>
              <a:rPr lang="nl-NL" dirty="0"/>
              <a:t> of </a:t>
            </a:r>
            <a:r>
              <a:rPr lang="nl-NL" dirty="0" err="1"/>
              <a:t>global</a:t>
            </a:r>
            <a:r>
              <a:rPr lang="nl-NL" dirty="0"/>
              <a:t> </a:t>
            </a:r>
            <a:r>
              <a:rPr lang="nl-NL" dirty="0" err="1"/>
              <a:t>shutter</a:t>
            </a:r>
            <a:r>
              <a:rPr lang="nl-NL" dirty="0"/>
              <a:t> verplicht]</a:t>
            </a:r>
          </a:p>
          <a:p>
            <a:endParaRPr lang="nl-NL" dirty="0"/>
          </a:p>
          <a:p>
            <a:r>
              <a:rPr lang="nl-NL" dirty="0"/>
              <a:t>    I --&gt; J{Sensortype?}</a:t>
            </a:r>
          </a:p>
          <a:p>
            <a:r>
              <a:rPr lang="nl-NL" dirty="0"/>
              <a:t>    H --&gt; J</a:t>
            </a:r>
          </a:p>
          <a:p>
            <a:r>
              <a:rPr lang="nl-NL" dirty="0"/>
              <a:t>    G --&gt; J</a:t>
            </a:r>
          </a:p>
          <a:p>
            <a:endParaRPr lang="nl-NL" dirty="0"/>
          </a:p>
          <a:p>
            <a:r>
              <a:rPr lang="nl-NL" dirty="0"/>
              <a:t>    J --&gt; |Bewegend object geen motion </a:t>
            </a:r>
            <a:r>
              <a:rPr lang="nl-NL" dirty="0" err="1"/>
              <a:t>blur</a:t>
            </a:r>
            <a:r>
              <a:rPr lang="nl-NL" dirty="0"/>
              <a:t> toegestaan| K[Global </a:t>
            </a:r>
            <a:r>
              <a:rPr lang="nl-NL" dirty="0" err="1"/>
              <a:t>Shutter</a:t>
            </a:r>
            <a:r>
              <a:rPr lang="nl-NL" dirty="0"/>
              <a:t> sensor]</a:t>
            </a:r>
          </a:p>
          <a:p>
            <a:r>
              <a:rPr lang="nl-NL" dirty="0"/>
              <a:t>    J --&gt; |Stilstaand object of gecontroleerde omgeving| L[Rolling </a:t>
            </a:r>
            <a:r>
              <a:rPr lang="nl-NL" dirty="0" err="1"/>
              <a:t>Shutter</a:t>
            </a:r>
            <a:r>
              <a:rPr lang="nl-NL" dirty="0"/>
              <a:t> acceptabel en goedkoper]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5582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A([Belichting kiezen]) --&gt; B{Wat wil je zichtbaar maken?}</a:t>
            </a:r>
          </a:p>
          <a:p>
            <a:endParaRPr lang="nl-NL" dirty="0"/>
          </a:p>
          <a:p>
            <a:r>
              <a:rPr lang="nl-NL" dirty="0"/>
              <a:t>    B --&gt; |Vorm of silhouet of aanwezigheid| C[Backlight tegenlicht maximaal randcontrast]</a:t>
            </a:r>
          </a:p>
          <a:p>
            <a:r>
              <a:rPr lang="nl-NL" dirty="0"/>
              <a:t>    B --&gt; |Oppervlaktedefecten krassen of putjes| D{Is het oppervlak reflecterend of spiegelend?}</a:t>
            </a:r>
          </a:p>
          <a:p>
            <a:r>
              <a:rPr lang="nl-NL" dirty="0"/>
              <a:t>    B --&gt; |3D structuur of hoogteverschil| E[</a:t>
            </a:r>
            <a:r>
              <a:rPr lang="nl-NL" dirty="0" err="1"/>
              <a:t>Structured</a:t>
            </a:r>
            <a:r>
              <a:rPr lang="nl-NL" dirty="0"/>
              <a:t> light of Laser lijnprojectie]</a:t>
            </a:r>
          </a:p>
          <a:p>
            <a:r>
              <a:rPr lang="nl-NL" dirty="0"/>
              <a:t>    B --&gt; |Interne structuur of doorlicht| F[Doorlichtbelichting bijv. PCB of voedsel]</a:t>
            </a:r>
          </a:p>
          <a:p>
            <a:endParaRPr lang="nl-NL" dirty="0"/>
          </a:p>
          <a:p>
            <a:r>
              <a:rPr lang="nl-NL" dirty="0"/>
              <a:t>    D --&gt; |Ja, spiegelend metaal of glas| G{Wil je reflecties elimineren?}</a:t>
            </a:r>
          </a:p>
          <a:p>
            <a:r>
              <a:rPr lang="nl-NL" dirty="0"/>
              <a:t>    D --&gt; |Nee, mat oppervlak| H[Diffuus licht schaduwvrij </a:t>
            </a:r>
            <a:r>
              <a:rPr lang="nl-NL" dirty="0" err="1"/>
              <a:t>dome</a:t>
            </a:r>
            <a:r>
              <a:rPr lang="nl-NL" dirty="0"/>
              <a:t> of ring]</a:t>
            </a:r>
          </a:p>
          <a:p>
            <a:endParaRPr lang="nl-NL" dirty="0"/>
          </a:p>
          <a:p>
            <a:r>
              <a:rPr lang="nl-NL" dirty="0"/>
              <a:t>    G --&gt; |Ja, reflecties volledig onderdrukken| P{Type reflectie?}</a:t>
            </a:r>
          </a:p>
          <a:p>
            <a:r>
              <a:rPr lang="nl-NL" dirty="0"/>
              <a:t>    G --&gt; |Nee, contrast via reflectie benutten| Q{Defect verhoogd of verdiept?}</a:t>
            </a:r>
          </a:p>
          <a:p>
            <a:endParaRPr lang="nl-NL" dirty="0"/>
          </a:p>
          <a:p>
            <a:r>
              <a:rPr lang="nl-NL" dirty="0"/>
              <a:t>    P --&gt; |</a:t>
            </a:r>
            <a:r>
              <a:rPr lang="nl-NL" dirty="0" err="1"/>
              <a:t>Speculaire</a:t>
            </a:r>
            <a:r>
              <a:rPr lang="nl-NL" dirty="0"/>
              <a:t> reflectie van lichtbron zichtbaar| R[Polariserende filter op lens EN polariserende belichting gecombineerd kruispolarisatie]</a:t>
            </a:r>
          </a:p>
          <a:p>
            <a:r>
              <a:rPr lang="nl-NL" dirty="0"/>
              <a:t>    P --&gt; |Diffuse glans over geheel oppervlak| S[</a:t>
            </a:r>
            <a:r>
              <a:rPr lang="nl-NL" dirty="0" err="1"/>
              <a:t>Dome</a:t>
            </a:r>
            <a:r>
              <a:rPr lang="nl-NL" dirty="0"/>
              <a:t> belichting met polarisatiefilter op lamp]</a:t>
            </a:r>
          </a:p>
          <a:p>
            <a:endParaRPr lang="nl-NL" dirty="0"/>
          </a:p>
          <a:p>
            <a:r>
              <a:rPr lang="nl-NL" dirty="0"/>
              <a:t>    Q --&gt; |Verhoogd of ruw defect| T[Dark field belichting scherend licht]</a:t>
            </a:r>
          </a:p>
          <a:p>
            <a:r>
              <a:rPr lang="nl-NL" dirty="0"/>
              <a:t>    Q --&gt; |Verdiept of kras zichtbaar via reflectie| U[</a:t>
            </a:r>
            <a:r>
              <a:rPr lang="nl-NL" dirty="0" err="1"/>
              <a:t>Bright</a:t>
            </a:r>
            <a:r>
              <a:rPr lang="nl-NL" dirty="0"/>
              <a:t> field of coaxiaal licht]</a:t>
            </a:r>
          </a:p>
          <a:p>
            <a:endParaRPr lang="nl-NL" dirty="0"/>
          </a:p>
          <a:p>
            <a:r>
              <a:rPr lang="nl-NL" dirty="0"/>
              <a:t>    H --&gt; V{Omgevingslicht een storende factor?}</a:t>
            </a:r>
          </a:p>
          <a:p>
            <a:r>
              <a:rPr lang="nl-NL" dirty="0"/>
              <a:t>    R --&gt; V</a:t>
            </a:r>
          </a:p>
          <a:p>
            <a:r>
              <a:rPr lang="nl-NL" dirty="0"/>
              <a:t>    S --&gt; V</a:t>
            </a:r>
          </a:p>
          <a:p>
            <a:r>
              <a:rPr lang="nl-NL" dirty="0"/>
              <a:t>    T --&gt; V</a:t>
            </a:r>
          </a:p>
          <a:p>
            <a:r>
              <a:rPr lang="nl-NL" dirty="0"/>
              <a:t>    U --&gt; V</a:t>
            </a:r>
          </a:p>
          <a:p>
            <a:endParaRPr lang="nl-NL" dirty="0"/>
          </a:p>
          <a:p>
            <a:r>
              <a:rPr lang="nl-NL" dirty="0"/>
              <a:t>    V --&gt; |Ja, wisselend omgevingslicht| W[Flitsbelichting gesynchroniseerd met camera plus fysiek afschermen]</a:t>
            </a:r>
          </a:p>
          <a:p>
            <a:r>
              <a:rPr lang="nl-NL" dirty="0"/>
              <a:t>    V --&gt; |Nee, gecontroleerde omgeving| X[Continu LED verlichting]</a:t>
            </a:r>
          </a:p>
          <a:p>
            <a:endParaRPr lang="nl-NL" dirty="0"/>
          </a:p>
          <a:p>
            <a:r>
              <a:rPr lang="nl-NL" dirty="0"/>
              <a:t>    X --&gt; Y{Kleurtemperatuur relevant?}</a:t>
            </a:r>
          </a:p>
          <a:p>
            <a:r>
              <a:rPr lang="nl-NL" dirty="0"/>
              <a:t>    Y --&gt; |Ja, kleurdetectie vereist| Z[Wit LED of spectrale LED per kleurkanaal]</a:t>
            </a:r>
          </a:p>
          <a:p>
            <a:r>
              <a:rPr lang="nl-NL" dirty="0"/>
              <a:t>    Y --&gt; |Nee| AA[Standaard wit of monochroom LED]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1276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A([Lens kiezen: start hier]) --&gt; B{Wat is het primaire doel?}</a:t>
            </a:r>
          </a:p>
          <a:p>
            <a:endParaRPr lang="nl-NL" dirty="0"/>
          </a:p>
          <a:p>
            <a:r>
              <a:rPr lang="nl-NL" dirty="0"/>
              <a:t>    B --&gt; |Maatinspectie hoge nauwkeurigheid| C[</a:t>
            </a:r>
            <a:r>
              <a:rPr lang="nl-NL" dirty="0" err="1"/>
              <a:t>Telecentrische</a:t>
            </a:r>
            <a:r>
              <a:rPr lang="nl-NL" dirty="0"/>
              <a:t> lens overwegen]</a:t>
            </a:r>
          </a:p>
          <a:p>
            <a:r>
              <a:rPr lang="nl-NL" dirty="0"/>
              <a:t>    B --&gt; |Defect detectie oppervlak| D{Hoe groot is het object of veld?}</a:t>
            </a:r>
          </a:p>
          <a:p>
            <a:r>
              <a:rPr lang="nl-NL" dirty="0"/>
              <a:t>    B --&gt; |Aanwezigheid of positie globaal| E[Standaard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lens volstaat]</a:t>
            </a:r>
          </a:p>
          <a:p>
            <a:r>
              <a:rPr lang="nl-NL" dirty="0"/>
              <a:t>    B --&gt; |Macro detail of kleine features| F[Macro lens of extension tube]</a:t>
            </a:r>
          </a:p>
          <a:p>
            <a:endParaRPr lang="nl-NL" dirty="0"/>
          </a:p>
          <a:p>
            <a:r>
              <a:rPr lang="nl-NL" dirty="0"/>
              <a:t>    C --&gt; G{Parallaxvrij absoluut vereist?}</a:t>
            </a:r>
          </a:p>
          <a:p>
            <a:r>
              <a:rPr lang="nl-NL" dirty="0"/>
              <a:t>    G --&gt; |Ja maatafwijking door hoek niet acceptabel| H[</a:t>
            </a:r>
            <a:r>
              <a:rPr lang="nl-NL" dirty="0" err="1"/>
              <a:t>Telecentrische</a:t>
            </a:r>
            <a:r>
              <a:rPr lang="nl-NL" dirty="0"/>
              <a:t> lens verplicht]</a:t>
            </a:r>
          </a:p>
          <a:p>
            <a:r>
              <a:rPr lang="nl-NL" dirty="0"/>
              <a:t>    G --&gt; |Nee tolerantie aanwezig| D</a:t>
            </a:r>
          </a:p>
          <a:p>
            <a:endParaRPr lang="nl-NL" dirty="0"/>
          </a:p>
          <a:p>
            <a:r>
              <a:rPr lang="nl-NL" dirty="0"/>
              <a:t>    D --&gt; |Kleiner dan 50mm| I[Macro of korte brandpuntsafstand 12 tot 25mm]</a:t>
            </a:r>
          </a:p>
          <a:p>
            <a:r>
              <a:rPr lang="nl-NL" dirty="0"/>
              <a:t>    D --&gt; |50mm tot 300mm| J[Standaard </a:t>
            </a:r>
            <a:r>
              <a:rPr lang="nl-NL" dirty="0" err="1"/>
              <a:t>industriele</a:t>
            </a:r>
            <a:r>
              <a:rPr lang="nl-NL" dirty="0"/>
              <a:t> lens 25 tot 75mm]</a:t>
            </a:r>
          </a:p>
          <a:p>
            <a:r>
              <a:rPr lang="nl-NL" dirty="0"/>
              <a:t>    D --&gt; |Groter dan 300mm| K[Groothoek of lijnscanlens of meerdere </a:t>
            </a:r>
            <a:r>
              <a:rPr lang="nl-NL" dirty="0" err="1"/>
              <a:t>cameras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H --&gt; L([Ga naar verdiepte boom: </a:t>
            </a:r>
            <a:r>
              <a:rPr lang="nl-NL" dirty="0" err="1"/>
              <a:t>Telecentrische</a:t>
            </a:r>
            <a:r>
              <a:rPr lang="nl-NL" dirty="0"/>
              <a:t> lens])</a:t>
            </a:r>
          </a:p>
          <a:p>
            <a:r>
              <a:rPr lang="nl-NL" dirty="0"/>
              <a:t>    I --&gt; M([Ga naar verdiepte boom: Brandpuntsafstand berekening])</a:t>
            </a:r>
          </a:p>
          <a:p>
            <a:r>
              <a:rPr lang="nl-NL" dirty="0"/>
              <a:t>    J --&gt; M</a:t>
            </a:r>
          </a:p>
          <a:p>
            <a:r>
              <a:rPr lang="nl-NL" dirty="0"/>
              <a:t>    K --&gt; M</a:t>
            </a:r>
          </a:p>
          <a:p>
            <a:r>
              <a:rPr lang="nl-NL" dirty="0"/>
              <a:t>    E --&gt; M</a:t>
            </a:r>
          </a:p>
          <a:p>
            <a:r>
              <a:rPr lang="nl-NL" dirty="0"/>
              <a:t>    F --&gt; N([Ga naar verdiepte boom: Macro en close-up])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478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5376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</a:t>
            </a:r>
            <a:r>
              <a:rPr lang="nl-NL" dirty="0" err="1"/>
              <a:t>Calibratie</a:t>
            </a:r>
            <a:r>
              <a:rPr lang="nl-NL" dirty="0"/>
              <a:t> starten]) --&gt; B{Wat is het primaire doel van het systeem?}</a:t>
            </a:r>
          </a:p>
          <a:p>
            <a:endParaRPr lang="nl-NL" dirty="0"/>
          </a:p>
          <a:p>
            <a:r>
              <a:rPr lang="nl-NL" dirty="0"/>
              <a:t>    B --&gt; |Maatinspectie of positiebepaling| C[Geometrische </a:t>
            </a:r>
            <a:r>
              <a:rPr lang="nl-NL" dirty="0" err="1"/>
              <a:t>calibratie</a:t>
            </a:r>
            <a:r>
              <a:rPr lang="nl-NL" dirty="0"/>
              <a:t> verplicht]</a:t>
            </a:r>
          </a:p>
          <a:p>
            <a:r>
              <a:rPr lang="nl-NL" dirty="0"/>
              <a:t>    B --&gt; |Defect detectie of classificatie| D{Is kleur een detectiekenmerk?}</a:t>
            </a:r>
          </a:p>
          <a:p>
            <a:r>
              <a:rPr lang="nl-NL" dirty="0"/>
              <a:t>    B --&gt; |Aanwezigheid of telling| E[Minimale </a:t>
            </a:r>
            <a:r>
              <a:rPr lang="nl-NL" dirty="0" err="1"/>
              <a:t>calibratie</a:t>
            </a:r>
            <a:r>
              <a:rPr lang="nl-NL" dirty="0"/>
              <a:t>: belichting stabiel houden]</a:t>
            </a:r>
          </a:p>
          <a:p>
            <a:endParaRPr lang="nl-NL" dirty="0"/>
          </a:p>
          <a:p>
            <a:r>
              <a:rPr lang="nl-NL" dirty="0"/>
              <a:t>    D --&gt; |Ja| F[</a:t>
            </a:r>
            <a:r>
              <a:rPr lang="nl-NL" dirty="0" err="1"/>
              <a:t>Kleurcalibratie</a:t>
            </a:r>
            <a:r>
              <a:rPr lang="nl-NL" dirty="0"/>
              <a:t> verplicht]</a:t>
            </a:r>
          </a:p>
          <a:p>
            <a:r>
              <a:rPr lang="nl-NL" dirty="0"/>
              <a:t>    D --&gt; |Nee| G[</a:t>
            </a:r>
            <a:r>
              <a:rPr lang="nl-NL" dirty="0" err="1"/>
              <a:t>Beeldkwaliteitscalibratie</a:t>
            </a:r>
            <a:r>
              <a:rPr lang="nl-NL" dirty="0"/>
              <a:t> voldoende]</a:t>
            </a:r>
          </a:p>
          <a:p>
            <a:endParaRPr lang="nl-NL" dirty="0"/>
          </a:p>
          <a:p>
            <a:r>
              <a:rPr lang="nl-NL" dirty="0"/>
              <a:t>    C --&gt; H{Lens met grote beeldhoek of goedkope lens?}</a:t>
            </a:r>
          </a:p>
          <a:p>
            <a:r>
              <a:rPr lang="nl-NL" dirty="0"/>
              <a:t>    H --&gt; |Ja| I[</a:t>
            </a:r>
            <a:r>
              <a:rPr lang="nl-NL" dirty="0" err="1"/>
              <a:t>Lensdistortie</a:t>
            </a:r>
            <a:r>
              <a:rPr lang="nl-NL" dirty="0"/>
              <a:t> correctie verplicht]</a:t>
            </a:r>
          </a:p>
          <a:p>
            <a:r>
              <a:rPr lang="nl-NL" dirty="0"/>
              <a:t>    H --&gt; |Nee, </a:t>
            </a:r>
            <a:r>
              <a:rPr lang="nl-NL" dirty="0" err="1"/>
              <a:t>telecentrische</a:t>
            </a:r>
            <a:r>
              <a:rPr lang="nl-NL" dirty="0"/>
              <a:t> of kwaliteitslens| J[Controleer residuele </a:t>
            </a:r>
            <a:r>
              <a:rPr lang="nl-NL" dirty="0" err="1"/>
              <a:t>distortie</a:t>
            </a:r>
            <a:r>
              <a:rPr lang="nl-NL" dirty="0"/>
              <a:t> kleiner dan 0.5px]</a:t>
            </a:r>
          </a:p>
          <a:p>
            <a:endParaRPr lang="nl-NL" dirty="0"/>
          </a:p>
          <a:p>
            <a:r>
              <a:rPr lang="nl-NL" dirty="0"/>
              <a:t>    I --&gt; K{Methode beschikbaar?}</a:t>
            </a:r>
          </a:p>
          <a:p>
            <a:r>
              <a:rPr lang="nl-NL" dirty="0"/>
              <a:t>    K --&gt; |Ja| L[Schaakbordpatroon </a:t>
            </a:r>
            <a:r>
              <a:rPr lang="nl-NL" dirty="0" err="1"/>
              <a:t>calibratie</a:t>
            </a:r>
            <a:r>
              <a:rPr lang="nl-NL" dirty="0"/>
              <a:t> bijv. </a:t>
            </a:r>
            <a:r>
              <a:rPr lang="nl-NL" dirty="0" err="1"/>
              <a:t>OpenCV</a:t>
            </a:r>
            <a:r>
              <a:rPr lang="nl-NL" dirty="0"/>
              <a:t> of </a:t>
            </a:r>
            <a:r>
              <a:rPr lang="nl-NL" dirty="0" err="1"/>
              <a:t>Halcon</a:t>
            </a:r>
            <a:r>
              <a:rPr lang="nl-NL" dirty="0"/>
              <a:t>]</a:t>
            </a:r>
          </a:p>
          <a:p>
            <a:r>
              <a:rPr lang="nl-NL" dirty="0"/>
              <a:t>    K --&gt; |Nee, geen patroon beschikbaar| M[Gebruik referentie-object met bekende afmetingen]</a:t>
            </a:r>
          </a:p>
          <a:p>
            <a:endParaRPr lang="nl-NL" dirty="0"/>
          </a:p>
          <a:p>
            <a:r>
              <a:rPr lang="nl-NL" dirty="0"/>
              <a:t>    L --&gt; N[Intrinsieke parameters bepalen: brandpuntsafstand, principaal punt, </a:t>
            </a:r>
            <a:r>
              <a:rPr lang="nl-NL" dirty="0" err="1"/>
              <a:t>distortiecoefficienten</a:t>
            </a:r>
            <a:r>
              <a:rPr lang="nl-NL" dirty="0"/>
              <a:t>]</a:t>
            </a:r>
          </a:p>
          <a:p>
            <a:r>
              <a:rPr lang="nl-NL" dirty="0"/>
              <a:t>    M --&gt; N</a:t>
            </a:r>
          </a:p>
          <a:p>
            <a:endParaRPr lang="nl-NL" dirty="0"/>
          </a:p>
          <a:p>
            <a:r>
              <a:rPr lang="nl-NL" dirty="0"/>
              <a:t>    N --&gt; O{Meerdere </a:t>
            </a:r>
            <a:r>
              <a:rPr lang="nl-NL" dirty="0" err="1"/>
              <a:t>cameras</a:t>
            </a:r>
            <a:r>
              <a:rPr lang="nl-NL" dirty="0"/>
              <a:t> of 3D setup?}</a:t>
            </a:r>
          </a:p>
          <a:p>
            <a:r>
              <a:rPr lang="nl-NL" dirty="0"/>
              <a:t>    O --&gt; |Ja| P[Extrinsieke </a:t>
            </a:r>
            <a:r>
              <a:rPr lang="nl-NL" dirty="0" err="1"/>
              <a:t>calibratie</a:t>
            </a:r>
            <a:r>
              <a:rPr lang="nl-NL" dirty="0"/>
              <a:t>: rotatie en translatie tussen </a:t>
            </a:r>
            <a:r>
              <a:rPr lang="nl-NL" dirty="0" err="1"/>
              <a:t>cameras</a:t>
            </a:r>
            <a:r>
              <a:rPr lang="nl-NL" dirty="0"/>
              <a:t> bepalen stereo </a:t>
            </a:r>
            <a:r>
              <a:rPr lang="nl-NL" dirty="0" err="1"/>
              <a:t>calibratie</a:t>
            </a:r>
            <a:r>
              <a:rPr lang="nl-NL" dirty="0"/>
              <a:t>]</a:t>
            </a:r>
          </a:p>
          <a:p>
            <a:r>
              <a:rPr lang="nl-NL" dirty="0"/>
              <a:t>    O --&gt; |Nee| Q[Pixel-naar-mm verhouding vaststellen met referentiemaat]</a:t>
            </a:r>
          </a:p>
          <a:p>
            <a:endParaRPr lang="nl-NL" dirty="0"/>
          </a:p>
          <a:p>
            <a:r>
              <a:rPr lang="nl-NL" dirty="0"/>
              <a:t>    F --&gt; R{Lichtbron stabiel en gecontroleerd?}</a:t>
            </a:r>
          </a:p>
          <a:p>
            <a:r>
              <a:rPr lang="nl-NL" dirty="0"/>
              <a:t>    R --&gt; |Nee, wisselend omgevingslicht| S[Eerst belichting stabiliseren of afschermen dan </a:t>
            </a:r>
            <a:r>
              <a:rPr lang="nl-NL" dirty="0" err="1"/>
              <a:t>calibreren</a:t>
            </a:r>
            <a:r>
              <a:rPr lang="nl-NL" dirty="0"/>
              <a:t>]</a:t>
            </a:r>
          </a:p>
          <a:p>
            <a:r>
              <a:rPr lang="nl-NL" dirty="0"/>
              <a:t>    R --&gt; |Ja| T{Cameratype?}</a:t>
            </a:r>
          </a:p>
          <a:p>
            <a:endParaRPr lang="nl-NL" dirty="0"/>
          </a:p>
          <a:p>
            <a:r>
              <a:rPr lang="nl-NL" dirty="0"/>
              <a:t>    T --&gt; |Kleurencamera RGB| U[Witbalans instellen met grijskaart of kleurkaart bijv. X-Rite </a:t>
            </a:r>
            <a:r>
              <a:rPr lang="nl-NL" dirty="0" err="1"/>
              <a:t>ColorChecker</a:t>
            </a:r>
            <a:r>
              <a:rPr lang="nl-NL" dirty="0"/>
              <a:t>]</a:t>
            </a:r>
          </a:p>
          <a:p>
            <a:r>
              <a:rPr lang="nl-NL" dirty="0"/>
              <a:t>    T --&gt; |Monochroom| V[Geen </a:t>
            </a:r>
            <a:r>
              <a:rPr lang="nl-NL" dirty="0" err="1"/>
              <a:t>kleurcalibratie</a:t>
            </a:r>
            <a:r>
              <a:rPr lang="nl-NL" dirty="0"/>
              <a:t> nodig - ga naar beeldkwaliteit]</a:t>
            </a:r>
          </a:p>
          <a:p>
            <a:endParaRPr lang="nl-NL" dirty="0"/>
          </a:p>
          <a:p>
            <a:r>
              <a:rPr lang="nl-NL" dirty="0"/>
              <a:t>    U --&gt; W[Gamma en kleurrespons </a:t>
            </a:r>
            <a:r>
              <a:rPr lang="nl-NL" dirty="0" err="1"/>
              <a:t>lineariseren</a:t>
            </a:r>
            <a:r>
              <a:rPr lang="nl-NL" dirty="0"/>
              <a:t> indien nodig voor meting]</a:t>
            </a:r>
          </a:p>
          <a:p>
            <a:endParaRPr lang="nl-NL" dirty="0"/>
          </a:p>
          <a:p>
            <a:r>
              <a:rPr lang="nl-NL" dirty="0"/>
              <a:t>    G --&gt; X{Is er overbelichting of onderbelichting zichtbaar?}</a:t>
            </a:r>
          </a:p>
          <a:p>
            <a:r>
              <a:rPr lang="nl-NL" dirty="0"/>
              <a:t>    V --&gt; X</a:t>
            </a:r>
          </a:p>
          <a:p>
            <a:endParaRPr lang="nl-NL" dirty="0"/>
          </a:p>
          <a:p>
            <a:r>
              <a:rPr lang="nl-NL" dirty="0"/>
              <a:t>    X --&gt; |Ja, uitgebrande </a:t>
            </a:r>
            <a:r>
              <a:rPr lang="nl-NL" dirty="0" err="1"/>
              <a:t>highlights</a:t>
            </a:r>
            <a:r>
              <a:rPr lang="nl-NL" dirty="0"/>
              <a:t> of volledig zwarte zones| Y{Oorzaak?}</a:t>
            </a:r>
          </a:p>
          <a:p>
            <a:r>
              <a:rPr lang="nl-NL" dirty="0"/>
              <a:t>    X --&gt; |Nee, histogram goed gespreid| Z[Beeldkwaliteit acceptabel - ga naar volgende stap]</a:t>
            </a:r>
          </a:p>
          <a:p>
            <a:endParaRPr lang="nl-NL" dirty="0"/>
          </a:p>
          <a:p>
            <a:r>
              <a:rPr lang="nl-NL" dirty="0"/>
              <a:t>    Y --&gt; |Te hoge belichtingstijd of </a:t>
            </a:r>
            <a:r>
              <a:rPr lang="nl-NL" dirty="0" err="1"/>
              <a:t>gain</a:t>
            </a:r>
            <a:r>
              <a:rPr lang="nl-NL" dirty="0"/>
              <a:t>| AA[Sluitertijd verkorten of </a:t>
            </a:r>
            <a:r>
              <a:rPr lang="nl-NL" dirty="0" err="1"/>
              <a:t>gain</a:t>
            </a:r>
            <a:r>
              <a:rPr lang="nl-NL" dirty="0"/>
              <a:t> verlagen]</a:t>
            </a:r>
          </a:p>
          <a:p>
            <a:r>
              <a:rPr lang="nl-NL" dirty="0"/>
              <a:t>    Y --&gt; |Te sterke lichtbron| AB[Lichtintensiteit reduceren of diffuser toevoegen]</a:t>
            </a:r>
          </a:p>
          <a:p>
            <a:r>
              <a:rPr lang="nl-NL" dirty="0"/>
              <a:t>    Y --&gt; |Reflectie van oppervlak| AC[Polarisatiefilter toepassen of belichtingshoek aanpassen]</a:t>
            </a:r>
          </a:p>
          <a:p>
            <a:endParaRPr lang="nl-NL" dirty="0"/>
          </a:p>
          <a:p>
            <a:r>
              <a:rPr lang="nl-NL" dirty="0"/>
              <a:t>    AA --&gt; AD{Histogram gecentreerd tussen 30 en 220 van 255?}</a:t>
            </a:r>
          </a:p>
          <a:p>
            <a:r>
              <a:rPr lang="nl-NL" dirty="0"/>
              <a:t>    AB --&gt; AD</a:t>
            </a:r>
          </a:p>
          <a:p>
            <a:r>
              <a:rPr lang="nl-NL" dirty="0"/>
              <a:t>    AC --&gt; AD</a:t>
            </a:r>
          </a:p>
          <a:p>
            <a:endParaRPr lang="nl-NL" dirty="0"/>
          </a:p>
          <a:p>
            <a:r>
              <a:rPr lang="nl-NL" dirty="0"/>
              <a:t>    AD --&gt; |Ja| AE[Belichting </a:t>
            </a:r>
            <a:r>
              <a:rPr lang="nl-NL" dirty="0" err="1"/>
              <a:t>gecalibreerd</a:t>
            </a:r>
            <a:r>
              <a:rPr lang="nl-NL" dirty="0"/>
              <a:t>]</a:t>
            </a:r>
          </a:p>
          <a:p>
            <a:r>
              <a:rPr lang="nl-NL" dirty="0"/>
              <a:t>    AD --&gt; |Nee| AF[Herhaal aanpassing iteratief]</a:t>
            </a:r>
          </a:p>
          <a:p>
            <a:endParaRPr lang="nl-NL" dirty="0"/>
          </a:p>
          <a:p>
            <a:r>
              <a:rPr lang="nl-NL" dirty="0"/>
              <a:t>    AE --&gt; AG{</a:t>
            </a:r>
            <a:r>
              <a:rPr lang="nl-NL" dirty="0" err="1"/>
              <a:t>Vignettingeffect</a:t>
            </a:r>
            <a:r>
              <a:rPr lang="nl-NL" dirty="0"/>
              <a:t> zichtbaar donkere hoeken?}</a:t>
            </a:r>
          </a:p>
          <a:p>
            <a:r>
              <a:rPr lang="nl-NL" dirty="0"/>
              <a:t>    Z --&gt; AG</a:t>
            </a:r>
          </a:p>
          <a:p>
            <a:endParaRPr lang="nl-NL" dirty="0"/>
          </a:p>
          <a:p>
            <a:r>
              <a:rPr lang="nl-NL" dirty="0"/>
              <a:t>    AG --&gt; |Ja| AH[Flat-field correctie uitvoeren uniform wit referentievlak fotograferen en normaliseren]</a:t>
            </a:r>
          </a:p>
          <a:p>
            <a:r>
              <a:rPr lang="nl-NL" dirty="0"/>
              <a:t>    AG --&gt; |Nee| AI[</a:t>
            </a:r>
            <a:r>
              <a:rPr lang="nl-NL" dirty="0" err="1"/>
              <a:t>Calibratie</a:t>
            </a:r>
            <a:r>
              <a:rPr lang="nl-NL" dirty="0"/>
              <a:t> volledig]</a:t>
            </a:r>
          </a:p>
          <a:p>
            <a:endParaRPr lang="nl-NL" dirty="0"/>
          </a:p>
          <a:p>
            <a:r>
              <a:rPr lang="nl-NL" dirty="0"/>
              <a:t>    AH --&gt; AI</a:t>
            </a:r>
          </a:p>
          <a:p>
            <a:r>
              <a:rPr lang="nl-NL" dirty="0"/>
              <a:t>    P --&gt; AI</a:t>
            </a:r>
          </a:p>
          <a:p>
            <a:r>
              <a:rPr lang="nl-NL" dirty="0"/>
              <a:t>    Q --&gt; AI</a:t>
            </a:r>
          </a:p>
          <a:p>
            <a:r>
              <a:rPr lang="nl-NL" dirty="0"/>
              <a:t>    W --&gt; AI</a:t>
            </a:r>
          </a:p>
          <a:p>
            <a:endParaRPr lang="nl-NL" dirty="0"/>
          </a:p>
          <a:p>
            <a:r>
              <a:rPr lang="nl-NL" dirty="0"/>
              <a:t>    AI([Systeem gereed voor ingebruikname])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22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01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401D1CB6-6B35-4216-835D-4B6D7DC10AA2}"/>
              </a:ext>
            </a:extLst>
          </p:cNvPr>
          <p:cNvSpPr/>
          <p:nvPr userDrawn="1"/>
        </p:nvSpPr>
        <p:spPr>
          <a:xfrm>
            <a:off x="9227489" y="5111778"/>
            <a:ext cx="2119048" cy="17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570D387-A9DA-4389-8749-9601C83ADF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589" y="5111779"/>
            <a:ext cx="2387821" cy="1836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769774B-F83A-5389-0CE0-446408499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232" y="2214000"/>
            <a:ext cx="10460567" cy="2808000"/>
          </a:xfrm>
        </p:spPr>
        <p:txBody>
          <a:bodyPr tIns="72000" anchor="t">
            <a:normAutofit/>
          </a:bodyPr>
          <a:lstStyle>
            <a:lvl1pPr>
              <a:lnSpc>
                <a:spcPts val="5200"/>
              </a:lnSpc>
              <a:defRPr sz="6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4" name="Tijdelijke aanduiding voor tekst 4">
            <a:extLst>
              <a:ext uri="{FF2B5EF4-FFF2-40B4-BE49-F238E27FC236}">
                <a16:creationId xmlns:a16="http://schemas.microsoft.com/office/drawing/2014/main" id="{43D6CBE0-A4AA-B4D9-967A-23073B1CDB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4" y="5095875"/>
            <a:ext cx="8326800" cy="1009650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VOORBEELD VAN EEN ONDERTITEL</a:t>
            </a:r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2EBE6325-786D-00A4-C84F-A8948AB45F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3763" y="1196975"/>
            <a:ext cx="10458450" cy="588963"/>
          </a:xfrm>
        </p:spPr>
        <p:txBody>
          <a:bodyPr anchor="b">
            <a:normAutofit/>
          </a:bodyPr>
          <a:lstStyle>
            <a:lvl1pPr marL="0" indent="0">
              <a:lnSpc>
                <a:spcPts val="1500"/>
              </a:lnSpc>
              <a:buNone/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 marL="180000" indent="0">
              <a:buNone/>
              <a:defRPr>
                <a:solidFill>
                  <a:schemeClr val="tx2"/>
                </a:solidFill>
              </a:defRPr>
            </a:lvl2pPr>
            <a:lvl3pPr marL="360000" indent="0">
              <a:buNone/>
              <a:defRPr>
                <a:solidFill>
                  <a:schemeClr val="tx2"/>
                </a:solidFill>
              </a:defRPr>
            </a:lvl3pPr>
            <a:lvl4pPr marL="540000" indent="0">
              <a:buNone/>
              <a:defRPr>
                <a:solidFill>
                  <a:schemeClr val="tx2"/>
                </a:solidFill>
              </a:defRPr>
            </a:lvl4pPr>
            <a:lvl5pPr marL="72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NAAM OPLEIDING/FACULTEIT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105156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B98C57B-182B-4B1A-8517-6B7CDA9A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172B17-8AD4-26A7-6FA3-2ED9E49C9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D7D2143-8A99-4F87-AD10-03EFEAA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994DE5A-C2D7-258A-A0FC-F5B5AED62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917701"/>
            <a:ext cx="4800600" cy="4248000"/>
          </a:xfrm>
        </p:spPr>
        <p:txBody>
          <a:bodyPr>
            <a:normAutofit/>
          </a:bodyPr>
          <a:lstStyle>
            <a:lvl1pPr marL="0" indent="0">
              <a:buNone/>
              <a:defRPr sz="1275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8" name="Tijdelijke aanduiding voor tekst 2"/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2897271-9D30-452B-AAF1-F0E2E56341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1012E8-1AC2-CEB2-B751-E25CDCB3A6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 baseline="0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8"/>
          </p:nvPr>
        </p:nvSpPr>
        <p:spPr>
          <a:xfrm>
            <a:off x="838200" y="2286000"/>
            <a:ext cx="4800600" cy="3905250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6553200" y="2286000"/>
            <a:ext cx="4800600" cy="3905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5BC47CD-32CA-4434-A931-60298C186A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A87FF08-62BD-7B59-1B53-E0597E4EF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 dirty="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6" y="5429602"/>
            <a:ext cx="4910667" cy="493713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cap="all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pic>
        <p:nvPicPr>
          <p:cNvPr id="6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4574" y="601590"/>
            <a:ext cx="355939" cy="297299"/>
          </a:xfrm>
          <a:prstGeom prst="rect">
            <a:avLst/>
          </a:prstGeom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04E24CA-A573-4CEE-A581-99C9D72CAA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6179686-86BA-8BF8-83CB-99A461D05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0216" y="1722120"/>
            <a:ext cx="4911568" cy="3514726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687" y="6227764"/>
            <a:ext cx="1359194" cy="588915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AD4D3619-56D9-4271-9849-15E3BE063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42598"/>
            <a:ext cx="1107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ACE7509-F60A-4509-9491-CD4ED7B54EDD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D52231E0-D1FD-C94B-B7B4-2D459BE8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514337" rtl="0" eaLnBrk="1" latinLnBrk="0" hangingPunct="1">
        <a:lnSpc>
          <a:spcPts val="2600"/>
        </a:lnSpc>
        <a:spcBef>
          <a:spcPct val="0"/>
        </a:spcBef>
        <a:buNone/>
        <a:defRPr lang="nl-NL" sz="3200" b="1" kern="1200" cap="all" baseline="0" dirty="0">
          <a:solidFill>
            <a:schemeClr val="tx2"/>
          </a:solidFill>
          <a:latin typeface="Roboto Condensed SemiBold" panose="02000000000000000000" pitchFamily="2" charset="0"/>
          <a:ea typeface="Roboto Condensed SemiBold" panose="02000000000000000000" pitchFamily="2" charset="0"/>
          <a:cs typeface="Arial" panose="020B0604020202020204" pitchFamily="34" charset="0"/>
          <a:sym typeface="Avenir Next Condensed Demi Bold"/>
        </a:defRPr>
      </a:lvl1pPr>
    </p:titleStyle>
    <p:bodyStyle>
      <a:lvl1pPr marL="18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36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­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54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72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90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en-GB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figure/llumination-techniques-for-machine-vision-systems-shown-in-the-context-of-their_fig1_400138593" TargetMode="Externa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FA2371C7-37F2-B606-1006-BEA1B3F2C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systeemkeuze</a:t>
            </a:r>
            <a:r>
              <a:rPr lang="en-US" dirty="0"/>
              <a:t>: wat </a:t>
            </a:r>
            <a:r>
              <a:rPr lang="en-US" dirty="0" err="1"/>
              <a:t>heb</a:t>
            </a:r>
            <a:r>
              <a:rPr lang="en-US" dirty="0"/>
              <a:t> je </a:t>
            </a:r>
            <a:r>
              <a:rPr lang="en-US" dirty="0" err="1"/>
              <a:t>nodig</a:t>
            </a:r>
            <a:r>
              <a:rPr lang="en-US" dirty="0"/>
              <a:t>?</a:t>
            </a:r>
          </a:p>
          <a:p>
            <a:r>
              <a:rPr lang="en-US" dirty="0" err="1"/>
              <a:t>Verwerkingstechnologie</a:t>
            </a:r>
            <a:r>
              <a:rPr lang="en-US" dirty="0"/>
              <a:t>: </a:t>
            </a:r>
            <a:r>
              <a:rPr lang="en-US" dirty="0" err="1"/>
              <a:t>traditioneel</a:t>
            </a:r>
            <a:r>
              <a:rPr lang="en-US" dirty="0"/>
              <a:t> vs. AI</a:t>
            </a:r>
          </a:p>
          <a:p>
            <a:r>
              <a:rPr lang="en-US" dirty="0"/>
              <a:t>Hardware platform: van Raspberry Pi tot GPU-server</a:t>
            </a:r>
          </a:p>
          <a:p>
            <a:r>
              <a:rPr lang="en-US" dirty="0" err="1"/>
              <a:t>Cameratype</a:t>
            </a:r>
            <a:r>
              <a:rPr lang="en-US" dirty="0"/>
              <a:t> en specs: </a:t>
            </a:r>
            <a:r>
              <a:rPr lang="en-US" dirty="0" err="1"/>
              <a:t>resolutie</a:t>
            </a:r>
            <a:r>
              <a:rPr lang="en-US" dirty="0"/>
              <a:t>, </a:t>
            </a:r>
            <a:r>
              <a:rPr lang="en-US" dirty="0" err="1"/>
              <a:t>snelheid</a:t>
            </a:r>
            <a:r>
              <a:rPr lang="en-US" dirty="0"/>
              <a:t>, sensor</a:t>
            </a:r>
          </a:p>
          <a:p>
            <a:r>
              <a:rPr lang="en-US" dirty="0" err="1"/>
              <a:t>Belichting</a:t>
            </a:r>
            <a:r>
              <a:rPr lang="en-US" dirty="0"/>
              <a:t>: het </a:t>
            </a:r>
            <a:r>
              <a:rPr lang="en-US" dirty="0" err="1"/>
              <a:t>meest</a:t>
            </a:r>
            <a:r>
              <a:rPr lang="en-US" dirty="0"/>
              <a:t> </a:t>
            </a:r>
            <a:r>
              <a:rPr lang="en-US" dirty="0" err="1"/>
              <a:t>onderschatte</a:t>
            </a:r>
            <a:r>
              <a:rPr lang="en-US" dirty="0"/>
              <a:t> </a:t>
            </a:r>
            <a:r>
              <a:rPr lang="en-US" dirty="0" err="1"/>
              <a:t>onderdeel</a:t>
            </a:r>
            <a:endParaRPr lang="en-US" dirty="0"/>
          </a:p>
          <a:p>
            <a:r>
              <a:rPr lang="en-US" dirty="0"/>
              <a:t>Lens: </a:t>
            </a:r>
            <a:r>
              <a:rPr lang="en-US" dirty="0" err="1"/>
              <a:t>brandpuntsafstand</a:t>
            </a:r>
            <a:r>
              <a:rPr lang="en-US" dirty="0"/>
              <a:t>, vatting, </a:t>
            </a:r>
            <a:r>
              <a:rPr lang="en-US" dirty="0" err="1"/>
              <a:t>telecentrisme</a:t>
            </a:r>
            <a:endParaRPr lang="en-US" dirty="0"/>
          </a:p>
          <a:p>
            <a:r>
              <a:rPr lang="en-US" dirty="0" err="1"/>
              <a:t>Calibratie</a:t>
            </a:r>
            <a:r>
              <a:rPr lang="en-US" dirty="0"/>
              <a:t>: </a:t>
            </a:r>
            <a:r>
              <a:rPr lang="en-US" dirty="0" err="1"/>
              <a:t>distortie</a:t>
            </a:r>
            <a:r>
              <a:rPr lang="en-US" dirty="0"/>
              <a:t>, </a:t>
            </a:r>
            <a:r>
              <a:rPr lang="en-US" dirty="0" err="1"/>
              <a:t>kleur</a:t>
            </a:r>
            <a:r>
              <a:rPr lang="en-US" dirty="0"/>
              <a:t>, </a:t>
            </a:r>
            <a:r>
              <a:rPr lang="en-US" dirty="0" err="1"/>
              <a:t>overbelichting</a:t>
            </a:r>
            <a:endParaRPr lang="en-US" dirty="0"/>
          </a:p>
          <a:p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72A916A-6A26-4385-ABCA-6A37499E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1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729E911-10DA-C203-A0DE-AB4C1493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2973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CAD175-1F4C-E1C8-288F-AD2AEDED20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Engineers kiezen vaak camera of lens op gevoel of budget</a:t>
            </a:r>
          </a:p>
          <a:p>
            <a:r>
              <a:rPr lang="nl-NL" dirty="0"/>
              <a:t>Resultaat: verkeerde keuzes → slechte beeldkwaliteit → systeem werkt niet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Machine </a:t>
            </a:r>
            <a:r>
              <a:rPr lang="nl-NL" dirty="0" err="1"/>
              <a:t>vision</a:t>
            </a:r>
            <a:r>
              <a:rPr lang="nl-NL" dirty="0"/>
              <a:t> projecten mislukken in 60% van de gevallen door verkeerde hardware- of belichtingskeuze </a:t>
            </a:r>
            <a:r>
              <a:rPr lang="nl-NL" i="1" dirty="0"/>
              <a:t>(bron: </a:t>
            </a:r>
            <a:r>
              <a:rPr lang="nl-NL" i="1" dirty="0" err="1"/>
              <a:t>Cognex</a:t>
            </a:r>
            <a:r>
              <a:rPr lang="nl-NL" i="1" dirty="0"/>
              <a:t>, 2024)</a:t>
            </a:r>
            <a:endParaRPr lang="nl-NL" dirty="0"/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961B79-A26F-B8C7-75FF-BC3279BC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35A509-C7AA-EB52-0069-CB5BD6EB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Hardware keuzes</a:t>
            </a:r>
          </a:p>
        </p:txBody>
      </p:sp>
    </p:spTree>
    <p:extLst>
      <p:ext uri="{BB962C8B-B14F-4D97-AF65-F5344CB8AC3E}">
        <p14:creationId xmlns:p14="http://schemas.microsoft.com/office/powerpoint/2010/main" val="356640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E69B54-6786-F9A9-B624-5D2838714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C1B7E9-8430-33AB-F5A2-965A9320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AD2617-E76C-2C25-83FE-C4EA0647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Vision</a:t>
            </a:r>
            <a:r>
              <a:rPr lang="nl-NL" dirty="0"/>
              <a:t> systeem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6B542-5629-E214-5311-29F1EBCD0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792008" cy="6230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84297-7F0A-FDBF-0F05-ED800B840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6799"/>
            <a:ext cx="4258269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0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A8C7CE-3618-115E-746F-6B873BD55B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nl-NL" dirty="0"/>
              <a:t>Vier hoofdtaken in machine </a:t>
            </a:r>
            <a:r>
              <a:rPr lang="nl-NL" dirty="0" err="1"/>
              <a:t>vision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Meten / positiebepaling</a:t>
            </a:r>
          </a:p>
          <a:p>
            <a:pPr lvl="1"/>
            <a:r>
              <a:rPr lang="nl-NL" dirty="0"/>
              <a:t>Defect detectie</a:t>
            </a:r>
          </a:p>
          <a:p>
            <a:pPr lvl="1"/>
            <a:r>
              <a:rPr lang="nl-NL" dirty="0"/>
              <a:t>Aanwezigheid / telling</a:t>
            </a:r>
          </a:p>
          <a:p>
            <a:pPr lvl="1"/>
            <a:r>
              <a:rPr lang="nl-NL" dirty="0"/>
              <a:t>Identificatie / OCR / barcode</a:t>
            </a:r>
          </a:p>
          <a:p>
            <a:r>
              <a:rPr lang="nl-NL" dirty="0"/>
              <a:t>Elke taak leidt naar een ander hardware- en </a:t>
            </a:r>
            <a:r>
              <a:rPr lang="nl-NL" dirty="0" err="1"/>
              <a:t>softwarepad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Fout: beginnen met "we nemen een 12MP camera" zonder taakdefinitie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02DBE-CF4E-4D2F-1C72-10B59D51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78C86D-A02C-BF48-8917-CB547EF1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Hoofdtaken</a:t>
            </a:r>
          </a:p>
        </p:txBody>
      </p:sp>
    </p:spTree>
    <p:extLst>
      <p:ext uri="{BB962C8B-B14F-4D97-AF65-F5344CB8AC3E}">
        <p14:creationId xmlns:p14="http://schemas.microsoft.com/office/powerpoint/2010/main" val="27576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CE8FDA-EFBD-B4AB-A78A-31978A8FFD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432DE-9EC0-F8FD-6AA2-56DE5938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592F8-CCF7-2E66-7D6E-DBA76116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24" y="94784"/>
            <a:ext cx="10221751" cy="666843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5343010-E671-B453-9F4E-6B3B5F29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Beslisboom</a:t>
            </a:r>
          </a:p>
        </p:txBody>
      </p:sp>
    </p:spTree>
    <p:extLst>
      <p:ext uri="{BB962C8B-B14F-4D97-AF65-F5344CB8AC3E}">
        <p14:creationId xmlns:p14="http://schemas.microsoft.com/office/powerpoint/2010/main" val="91915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1F28-371F-D71D-A07B-08DE42C4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B6412D-4840-FE60-AF2D-8A29251645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9BEAE-6BCA-8348-53C0-A02401EF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80482B-9594-4568-7E01-DB840976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7711D-FBC3-9CFC-F3D7-CB5C9E70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562"/>
            <a:ext cx="12192000" cy="621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1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223A-8CF0-7EDB-3BC2-B525C614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4F142B-BE4C-52BA-6DA8-D078C5E3E0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22257-D67B-B4E4-5DE1-19DDEF82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288F42-EE2F-7A69-47B2-DAF6D537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622" y="159806"/>
            <a:ext cx="10515600" cy="1325563"/>
          </a:xfrm>
        </p:spPr>
        <p:txBody>
          <a:bodyPr/>
          <a:lstStyle/>
          <a:p>
            <a:r>
              <a:rPr lang="en-US" dirty="0" err="1"/>
              <a:t>Traditioneel</a:t>
            </a:r>
            <a:r>
              <a:rPr lang="en-US" dirty="0"/>
              <a:t> vs. Deep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065016-30F3-AD6B-D902-CEC1880C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29" y="0"/>
            <a:ext cx="332001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17AE3-8310-605A-5DD5-1D551F7F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63" y="3942943"/>
            <a:ext cx="7897327" cy="291505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075BFF-80FE-014E-BB0E-45127413F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78317"/>
              </p:ext>
            </p:extLst>
          </p:nvPr>
        </p:nvGraphicFramePr>
        <p:xfrm>
          <a:off x="21126" y="1576012"/>
          <a:ext cx="8128000" cy="1918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219471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61692508"/>
                    </a:ext>
                  </a:extLst>
                </a:gridCol>
              </a:tblGrid>
              <a:tr h="24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Traditionele</a:t>
                      </a:r>
                      <a:r>
                        <a:rPr lang="en-US" sz="1600" dirty="0">
                          <a:effectLst/>
                        </a:rPr>
                        <a:t> Vision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Deep Learning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72802089"/>
                  </a:ext>
                </a:extLst>
              </a:tr>
              <a:tr h="421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Vaste, </a:t>
                      </a:r>
                      <a:r>
                        <a:rPr lang="en-US" sz="1600" dirty="0" err="1">
                          <a:effectLst/>
                        </a:rPr>
                        <a:t>herhaalbare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defecten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Variabele, onvoorspelbare defecten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28768203"/>
                  </a:ext>
                </a:extLst>
              </a:tr>
              <a:tr h="24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Stabiele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omgeving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Wisselende omstandigheden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09517600"/>
                  </a:ext>
                </a:extLst>
              </a:tr>
              <a:tr h="421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Geen trainingsdata nodig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Minimaal</a:t>
                      </a:r>
                      <a:r>
                        <a:rPr lang="en-US" sz="1600" dirty="0">
                          <a:effectLst/>
                        </a:rPr>
                        <a:t> 200–500 </a:t>
                      </a:r>
                      <a:r>
                        <a:rPr lang="en-US" sz="1600" dirty="0" err="1">
                          <a:effectLst/>
                        </a:rPr>
                        <a:t>gelabelde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beelden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97859858"/>
                  </a:ext>
                </a:extLst>
              </a:tr>
              <a:tr h="24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Goedkoper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Meer </a:t>
                      </a:r>
                      <a:r>
                        <a:rPr lang="en-US" sz="1600" dirty="0" err="1">
                          <a:effectLst/>
                        </a:rPr>
                        <a:t>rekenkracht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nodig</a:t>
                      </a:r>
                      <a:endParaRPr 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044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87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ECE6F-12DE-2433-FAF0-8497BCF23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D8311-4EA0-9787-8F88-BBEC97E9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130645-8346-D193-7D50-07455A2F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8" y="2158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LAAG 2:</a:t>
            </a:r>
            <a:br>
              <a:rPr lang="en-US" dirty="0"/>
            </a:br>
            <a:r>
              <a:rPr lang="en-US" dirty="0"/>
              <a:t>Hardware </a:t>
            </a:r>
            <a:br>
              <a:rPr lang="en-US" dirty="0"/>
            </a:br>
            <a:r>
              <a:rPr lang="en-US" dirty="0"/>
              <a:t>Platform</a:t>
            </a:r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D4ED89-2C34-91FE-DE49-4600EB39C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838" y="0"/>
            <a:ext cx="4404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0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A0403F-6ED6-27E9-BFC2-170A714AE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-4762"/>
            <a:ext cx="5742452" cy="68580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E5EF9A-EE2B-DD12-2C39-1C4A56A63A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Bewegend</a:t>
            </a:r>
            <a:r>
              <a:rPr lang="en-US" dirty="0"/>
              <a:t> </a:t>
            </a:r>
            <a:r>
              <a:rPr lang="en-US" dirty="0" err="1"/>
              <a:t>materiaal</a:t>
            </a:r>
            <a:r>
              <a:rPr lang="en-US" dirty="0"/>
              <a:t> → </a:t>
            </a:r>
            <a:r>
              <a:rPr lang="en-US" dirty="0" err="1"/>
              <a:t>Lijnscancamera</a:t>
            </a:r>
            <a:r>
              <a:rPr lang="en-US" dirty="0"/>
              <a:t> </a:t>
            </a:r>
          </a:p>
          <a:p>
            <a:r>
              <a:rPr lang="en-US" dirty="0"/>
              <a:t>3D + </a:t>
            </a:r>
            <a:r>
              <a:rPr lang="en-US" dirty="0" err="1"/>
              <a:t>hoge</a:t>
            </a:r>
            <a:r>
              <a:rPr lang="en-US" dirty="0"/>
              <a:t> </a:t>
            </a:r>
            <a:r>
              <a:rPr lang="en-US" dirty="0" err="1"/>
              <a:t>nauwkeurigheid</a:t>
            </a:r>
            <a:r>
              <a:rPr lang="en-US" dirty="0"/>
              <a:t> → Structured Light / </a:t>
            </a:r>
            <a:br>
              <a:rPr lang="en-US" dirty="0"/>
            </a:br>
            <a:r>
              <a:rPr lang="en-US" dirty="0"/>
              <a:t>Laser </a:t>
            </a:r>
            <a:r>
              <a:rPr lang="en-US" dirty="0" err="1"/>
              <a:t>Triangulatie</a:t>
            </a:r>
            <a:r>
              <a:rPr lang="en-US" dirty="0"/>
              <a:t> </a:t>
            </a:r>
          </a:p>
          <a:p>
            <a:r>
              <a:rPr lang="en-US" dirty="0"/>
              <a:t>3D + </a:t>
            </a:r>
            <a:r>
              <a:rPr lang="en-US" dirty="0" err="1"/>
              <a:t>globale</a:t>
            </a:r>
            <a:r>
              <a:rPr lang="en-US" dirty="0"/>
              <a:t> meting → Stereo Vision / </a:t>
            </a:r>
            <a:r>
              <a:rPr lang="en-US" dirty="0" err="1"/>
              <a:t>ToF</a:t>
            </a:r>
            <a:r>
              <a:rPr lang="en-US" dirty="0"/>
              <a:t> </a:t>
            </a:r>
          </a:p>
          <a:p>
            <a:r>
              <a:rPr lang="en-US" dirty="0" err="1"/>
              <a:t>Kleur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kenmerk</a:t>
            </a:r>
            <a:r>
              <a:rPr lang="en-US" dirty="0"/>
              <a:t> → RGB </a:t>
            </a:r>
            <a:r>
              <a:rPr lang="en-US" dirty="0" err="1"/>
              <a:t>Kleurencamera</a:t>
            </a:r>
            <a:r>
              <a:rPr lang="en-US" dirty="0"/>
              <a:t> </a:t>
            </a:r>
          </a:p>
          <a:p>
            <a:r>
              <a:rPr lang="en-US" dirty="0"/>
              <a:t>Contrast, </a:t>
            </a:r>
            <a:r>
              <a:rPr lang="en-US" dirty="0" err="1"/>
              <a:t>maat</a:t>
            </a:r>
            <a:r>
              <a:rPr lang="en-US" dirty="0"/>
              <a:t>, code → </a:t>
            </a:r>
            <a:r>
              <a:rPr lang="en-US" dirty="0" err="1"/>
              <a:t>Monochroom</a:t>
            </a:r>
            <a:r>
              <a:rPr lang="en-US" dirty="0"/>
              <a:t> CMOS </a:t>
            </a:r>
          </a:p>
          <a:p>
            <a:r>
              <a:rPr lang="en-US" dirty="0" err="1"/>
              <a:t>Temperatuur</a:t>
            </a:r>
            <a:r>
              <a:rPr lang="en-US" dirty="0"/>
              <a:t> / </a:t>
            </a:r>
            <a:r>
              <a:rPr lang="en-US" dirty="0" err="1"/>
              <a:t>warmte</a:t>
            </a:r>
            <a:r>
              <a:rPr lang="en-US" dirty="0"/>
              <a:t> → </a:t>
            </a:r>
            <a:r>
              <a:rPr lang="en-US" dirty="0" err="1"/>
              <a:t>Thermische</a:t>
            </a:r>
            <a:r>
              <a:rPr lang="en-US" dirty="0"/>
              <a:t> camera </a:t>
            </a:r>
            <a:br>
              <a:rPr lang="en-US" dirty="0"/>
            </a:br>
            <a:r>
              <a:rPr lang="en-US" dirty="0"/>
              <a:t>(LWIR) </a:t>
            </a:r>
          </a:p>
          <a:p>
            <a:r>
              <a:rPr lang="en-US" dirty="0" err="1"/>
              <a:t>Verborgen</a:t>
            </a:r>
            <a:r>
              <a:rPr lang="en-US" dirty="0"/>
              <a:t> contrast → NIR camera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E1883-BED9-F3CD-D957-EF4200F7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7371E7-8EB1-56EF-E06D-8459900F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3: </a:t>
            </a:r>
            <a:r>
              <a:rPr lang="en-US" dirty="0" err="1"/>
              <a:t>Cameratype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594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2E1270-16B2-0B8F-B5A8-2A051AB76A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Vraag 1: Hoe groot is het object? → bepaalt FOV </a:t>
            </a:r>
          </a:p>
          <a:p>
            <a:pPr marL="0" indent="0">
              <a:buNone/>
            </a:pPr>
            <a:r>
              <a:rPr lang="nl-NL" dirty="0"/>
              <a:t>Vraag 2: Hoe klein is de kleinste feature? → bepaalt GSD </a:t>
            </a:r>
          </a:p>
          <a:p>
            <a:pPr marL="0" indent="0">
              <a:buNone/>
            </a:pPr>
            <a:r>
              <a:rPr lang="nl-NL" dirty="0"/>
              <a:t>Vraag 3: Hoe ver staat de camera? → bepaalt brandpuntsafstand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EFCED-BA86-ACB1-44B7-4E29A440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F159A1-A035-9A0B-82F6-81E5586F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 2 — Jouw laptop als vision sensor: wat kan hij écht?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1BF4D0-4CC8-DE35-0EA5-6B84365B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930" y="3586105"/>
            <a:ext cx="4860077" cy="1964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0B1618-7F70-07BA-810C-D4FD53C280B4}"/>
              </a:ext>
            </a:extLst>
          </p:cNvPr>
          <p:cNvSpPr txBox="1"/>
          <p:nvPr/>
        </p:nvSpPr>
        <p:spPr>
          <a:xfrm>
            <a:off x="350630" y="3084597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/>
              <a:t>SITUATIE: koffiemachine, assemblagecontrole                                                           </a:t>
            </a:r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Object:        waterreservoir, 80mm breed x 60mm hoog </a:t>
            </a:r>
          </a:p>
          <a:p>
            <a:r>
              <a:rPr lang="nl-NL" sz="1400" dirty="0"/>
              <a:t>Kleinste </a:t>
            </a:r>
            <a:r>
              <a:rPr lang="nl-NL" sz="1400" dirty="0" err="1"/>
              <a:t>feat</a:t>
            </a:r>
            <a:r>
              <a:rPr lang="nl-NL" sz="1400" dirty="0"/>
              <a:t>: aansluiting ø 2mm                      </a:t>
            </a:r>
          </a:p>
          <a:p>
            <a:r>
              <a:rPr lang="nl-NL" sz="1400" dirty="0"/>
              <a:t>Werkafstand:   300mm (camera boven station)           </a:t>
            </a:r>
          </a:p>
          <a:p>
            <a:r>
              <a:rPr lang="nl-NL" sz="1400" dirty="0"/>
              <a:t>Sensor:        1/2 inch → pixelgrootte ≈ 0.0048mm      </a:t>
            </a:r>
          </a:p>
          <a:p>
            <a:r>
              <a:rPr lang="nl-NL" sz="1400" dirty="0"/>
              <a:t>Lens:          25mm brandpuntsafstand                  </a:t>
            </a:r>
          </a:p>
          <a:p>
            <a:r>
              <a:rPr lang="nl-NL" sz="1400" dirty="0"/>
              <a:t>                                                        </a:t>
            </a:r>
          </a:p>
          <a:p>
            <a:r>
              <a:rPr lang="nl-NL" sz="1400" dirty="0"/>
              <a:t>GSD = (0.0048 × 300) / 25 = 0.058 mm/pixel                                                                 </a:t>
            </a:r>
          </a:p>
          <a:p>
            <a:endParaRPr lang="nl-NL" sz="1400" dirty="0"/>
          </a:p>
          <a:p>
            <a:r>
              <a:rPr lang="nl-NL" sz="1400" dirty="0"/>
              <a:t>Feature check: 2mm / 0.058 = 34 pixels  (&gt;5 min.)     Breedte nodig: 80mm / 0.058 = 1379 pixels               Hoogte nodig:  60mm / 0.058 = 1034 pixels              </a:t>
            </a:r>
          </a:p>
          <a:p>
            <a:endParaRPr lang="nl-NL" sz="1400" dirty="0"/>
          </a:p>
          <a:p>
            <a:r>
              <a:rPr lang="nl-NL" sz="1400" dirty="0"/>
              <a:t> → 1379 × 1034 = 1.4 Megapixel → 2MP camera volstaat</a:t>
            </a:r>
          </a:p>
        </p:txBody>
      </p:sp>
    </p:spTree>
    <p:extLst>
      <p:ext uri="{BB962C8B-B14F-4D97-AF65-F5344CB8AC3E}">
        <p14:creationId xmlns:p14="http://schemas.microsoft.com/office/powerpoint/2010/main" val="397094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DB47CC-1F7C-74EE-C844-F70B303EA9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47ACD-CFD3-95CF-FAFB-0E872ED8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227E1F-09E6-5457-0849-B8EA107C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4: </a:t>
            </a:r>
            <a:br>
              <a:rPr lang="en-US" dirty="0"/>
            </a:br>
            <a:r>
              <a:rPr lang="en-US" dirty="0"/>
              <a:t>Camera Specs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8D7199-0F40-AA5C-588A-6E8E02EC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793" y="0"/>
            <a:ext cx="546400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0E3EBE-8EF0-3C86-2E79-EFC8CC768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9998"/>
            <a:ext cx="6421829" cy="24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2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3BEAA-BD61-0DE6-EF19-01E4CA2893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70% van de </a:t>
            </a:r>
            <a:r>
              <a:rPr lang="nl-NL" dirty="0" err="1"/>
              <a:t>vision</a:t>
            </a:r>
            <a:r>
              <a:rPr lang="nl-NL" dirty="0"/>
              <a:t> problemen in productie zijn belichtingsproblemen </a:t>
            </a:r>
            <a:r>
              <a:rPr lang="nl-NL" i="1" dirty="0"/>
              <a:t>(bron: </a:t>
            </a:r>
            <a:r>
              <a:rPr lang="nl-NL" i="1" dirty="0" err="1"/>
              <a:t>Cognex</a:t>
            </a:r>
            <a:r>
              <a:rPr lang="nl-NL" i="1" dirty="0"/>
              <a:t> 2024)</a:t>
            </a:r>
            <a:endParaRPr lang="nl-NL" dirty="0"/>
          </a:p>
          <a:p>
            <a:r>
              <a:rPr lang="nl-NL" dirty="0"/>
              <a:t>Belichting bepaalt contrast, niet de camera of het algoritme</a:t>
            </a:r>
          </a:p>
          <a:p>
            <a:r>
              <a:rPr lang="nl-NL" dirty="0"/>
              <a:t>Keuze hangt af van: materiaal, oppervlak, defecttype, geometrie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ei is deels transparant → </a:t>
            </a:r>
            <a:r>
              <a:rPr lang="nl-NL" b="1" dirty="0"/>
              <a:t>backlight</a:t>
            </a:r>
            <a:r>
              <a:rPr lang="nl-NL" dirty="0"/>
              <a:t> maakt haarscheuren zichtbaar die bij frontlicht onzichtbaar zijn </a:t>
            </a:r>
          </a:p>
          <a:p>
            <a:r>
              <a:rPr lang="nl-NL" dirty="0"/>
              <a:t>metalen behuizing: spiegelend oppervlak → </a:t>
            </a:r>
            <a:r>
              <a:rPr lang="nl-NL" b="1" dirty="0"/>
              <a:t>kruispolarisatie</a:t>
            </a:r>
            <a:r>
              <a:rPr lang="nl-NL" dirty="0"/>
              <a:t> elimineert reflecties volledig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E54A8-431E-A456-B6CA-67F51C00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9D29E4-6A0D-6E3E-01E8-DF5680F0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Belichting: het meest onderschatte onderdeel</a:t>
            </a:r>
          </a:p>
        </p:txBody>
      </p:sp>
    </p:spTree>
    <p:extLst>
      <p:ext uri="{BB962C8B-B14F-4D97-AF65-F5344CB8AC3E}">
        <p14:creationId xmlns:p14="http://schemas.microsoft.com/office/powerpoint/2010/main" val="58550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686AA8-481D-557C-AEE1-B9BFED6C7D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52F59-C8A9-7429-91EA-CB3544A2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A9C80E-A95F-6971-C3F8-0AA05761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5: </a:t>
            </a:r>
            <a:br>
              <a:rPr lang="en-US" dirty="0"/>
            </a:br>
            <a:r>
              <a:rPr lang="en-US" dirty="0" err="1"/>
              <a:t>Belichting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3E429A-1B63-5E87-0F68-318E8807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450" y="-790"/>
            <a:ext cx="5504300" cy="68580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953D1B7-3C0A-CD11-AEA2-5B7FB387D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859652"/>
            <a:ext cx="5186309" cy="3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ABB38F-1E9C-0D0C-F140-3D279B3C4670}"/>
              </a:ext>
            </a:extLst>
          </p:cNvPr>
          <p:cNvSpPr txBox="1"/>
          <p:nvPr/>
        </p:nvSpPr>
        <p:spPr>
          <a:xfrm>
            <a:off x="227534" y="553164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100" dirty="0">
                <a:hlinkClick r:id="rId5"/>
              </a:rPr>
              <a:t>https://www.researchgate.net/figure/llumination-techniques-for-machine-vision-systems-shown-in-the-context-of-their_fig1_400138593</a:t>
            </a:r>
            <a:r>
              <a:rPr lang="nl-NL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19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D2533-AB88-3E0A-53BC-7E890314E3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Probleem</a:t>
            </a:r>
            <a:r>
              <a:rPr lang="en-US" dirty="0"/>
              <a:t>: </a:t>
            </a:r>
            <a:r>
              <a:rPr lang="en-US" dirty="0" err="1"/>
              <a:t>spiegelende</a:t>
            </a:r>
            <a:r>
              <a:rPr lang="en-US" dirty="0"/>
              <a:t> </a:t>
            </a:r>
            <a:r>
              <a:rPr lang="en-US" dirty="0" err="1"/>
              <a:t>oppervlakken</a:t>
            </a:r>
            <a:r>
              <a:rPr lang="en-US" dirty="0"/>
              <a:t> (</a:t>
            </a:r>
            <a:r>
              <a:rPr lang="en-US" dirty="0" err="1"/>
              <a:t>metaal</a:t>
            </a:r>
            <a:r>
              <a:rPr lang="en-US" dirty="0"/>
              <a:t>, </a:t>
            </a:r>
            <a:r>
              <a:rPr lang="en-US" dirty="0" err="1"/>
              <a:t>glas</a:t>
            </a:r>
            <a:r>
              <a:rPr lang="en-US" dirty="0"/>
              <a:t>, plastic) → </a:t>
            </a:r>
            <a:r>
              <a:rPr lang="en-US" dirty="0" err="1"/>
              <a:t>lichtreflecties</a:t>
            </a:r>
            <a:r>
              <a:rPr lang="en-US" dirty="0"/>
              <a:t> </a:t>
            </a:r>
            <a:r>
              <a:rPr lang="en-US" dirty="0" err="1"/>
              <a:t>maskeren</a:t>
            </a:r>
            <a:r>
              <a:rPr lang="en-US" dirty="0"/>
              <a:t> </a:t>
            </a:r>
            <a:r>
              <a:rPr lang="en-US" dirty="0" err="1"/>
              <a:t>defecten</a:t>
            </a:r>
            <a:endParaRPr lang="en-US" dirty="0"/>
          </a:p>
          <a:p>
            <a:r>
              <a:rPr lang="en-US" dirty="0" err="1"/>
              <a:t>Oplossing</a:t>
            </a:r>
            <a:r>
              <a:rPr lang="en-US" dirty="0"/>
              <a:t>: </a:t>
            </a:r>
            <a:r>
              <a:rPr lang="en-US" b="1" dirty="0" err="1"/>
              <a:t>kruispolarisatie</a:t>
            </a:r>
            <a:endParaRPr lang="en-US" dirty="0"/>
          </a:p>
          <a:p>
            <a:pPr lvl="1"/>
            <a:r>
              <a:rPr lang="en-US" dirty="0" err="1"/>
              <a:t>Polarisatiefilter</a:t>
            </a:r>
            <a:r>
              <a:rPr lang="en-US" dirty="0"/>
              <a:t> op de </a:t>
            </a:r>
            <a:r>
              <a:rPr lang="en-US" dirty="0" err="1"/>
              <a:t>lichtbron</a:t>
            </a:r>
            <a:r>
              <a:rPr lang="en-US" dirty="0"/>
              <a:t>: </a:t>
            </a:r>
            <a:r>
              <a:rPr lang="en-US" dirty="0" err="1"/>
              <a:t>licht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gepolariseerd</a:t>
            </a:r>
            <a:endParaRPr lang="en-US" dirty="0"/>
          </a:p>
          <a:p>
            <a:pPr lvl="1"/>
            <a:r>
              <a:rPr lang="en-US" dirty="0" err="1"/>
              <a:t>Polarisatiefilter</a:t>
            </a:r>
            <a:r>
              <a:rPr lang="en-US" dirty="0"/>
              <a:t> op de lens: 90° </a:t>
            </a:r>
            <a:r>
              <a:rPr lang="en-US" dirty="0" err="1"/>
              <a:t>gedraaid</a:t>
            </a:r>
            <a:r>
              <a:rPr lang="en-US" dirty="0"/>
              <a:t> </a:t>
            </a:r>
            <a:r>
              <a:rPr lang="en-US" dirty="0" err="1"/>
              <a:t>t.o.v</a:t>
            </a:r>
            <a:r>
              <a:rPr lang="en-US" dirty="0"/>
              <a:t>. lamp</a:t>
            </a:r>
          </a:p>
          <a:p>
            <a:pPr lvl="1"/>
            <a:r>
              <a:rPr lang="en-US" dirty="0" err="1"/>
              <a:t>Resultaat</a:t>
            </a:r>
            <a:r>
              <a:rPr lang="en-US" dirty="0"/>
              <a:t>: </a:t>
            </a:r>
            <a:r>
              <a:rPr lang="en-US" dirty="0" err="1"/>
              <a:t>gereflecteerd</a:t>
            </a:r>
            <a:r>
              <a:rPr lang="en-US" dirty="0"/>
              <a:t> </a:t>
            </a:r>
            <a:r>
              <a:rPr lang="en-US" dirty="0" err="1"/>
              <a:t>licht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geblokkeerd</a:t>
            </a:r>
            <a:r>
              <a:rPr lang="en-US" dirty="0"/>
              <a:t>, </a:t>
            </a:r>
            <a:r>
              <a:rPr lang="en-US" dirty="0" err="1"/>
              <a:t>diffuus</a:t>
            </a:r>
            <a:r>
              <a:rPr lang="en-US" dirty="0"/>
              <a:t> </a:t>
            </a:r>
            <a:r>
              <a:rPr lang="en-US" dirty="0" err="1"/>
              <a:t>licht</a:t>
            </a:r>
            <a:r>
              <a:rPr lang="en-US" dirty="0"/>
              <a:t> van het object </a:t>
            </a:r>
            <a:r>
              <a:rPr lang="en-US" dirty="0" err="1"/>
              <a:t>passeert</a:t>
            </a:r>
            <a:endParaRPr lang="en-US" dirty="0"/>
          </a:p>
          <a:p>
            <a:r>
              <a:rPr lang="en-US" dirty="0"/>
              <a:t>Kosten: filter €5–€30 </a:t>
            </a:r>
            <a:r>
              <a:rPr lang="en-US" dirty="0" err="1"/>
              <a:t>voor</a:t>
            </a:r>
            <a:r>
              <a:rPr lang="en-US" dirty="0"/>
              <a:t> laptop lens, €20–€80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industriële</a:t>
            </a:r>
            <a:r>
              <a:rPr lang="en-US" dirty="0"/>
              <a:t> lens</a:t>
            </a:r>
          </a:p>
          <a:p>
            <a:r>
              <a:rPr lang="en-US" dirty="0" err="1"/>
              <a:t>Toepasbaar</a:t>
            </a:r>
            <a:r>
              <a:rPr lang="en-US" dirty="0"/>
              <a:t> met </a:t>
            </a:r>
            <a:r>
              <a:rPr lang="en-US" dirty="0" err="1"/>
              <a:t>gewone</a:t>
            </a:r>
            <a:r>
              <a:rPr lang="en-US" dirty="0"/>
              <a:t> LED lamp + </a:t>
            </a:r>
            <a:r>
              <a:rPr lang="en-US" dirty="0" err="1"/>
              <a:t>polarisatiefolie</a:t>
            </a:r>
            <a:endParaRPr lang="en-US" dirty="0"/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63909-0969-C9D3-89D9-A9F83210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4F7370-4387-4533-994F-1A733FB6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Polariserende filter — wanneer en hoe?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806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3783E-6453-C852-2110-6703C4ACB4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Wit papier + zaklamp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1625D-F483-AECE-719C-3CBD28C2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A7D8F0-E9DC-82B1-3462-B6F46FE2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Belichting test python	</a:t>
            </a:r>
          </a:p>
        </p:txBody>
      </p:sp>
    </p:spTree>
    <p:extLst>
      <p:ext uri="{BB962C8B-B14F-4D97-AF65-F5344CB8AC3E}">
        <p14:creationId xmlns:p14="http://schemas.microsoft.com/office/powerpoint/2010/main" val="4067045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79CEB8-C5C1-EB53-E0F9-B73D38E775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2D509-5223-950B-7359-30C3E844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16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F870C0-E8E7-2B0F-3BD2-127640B3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Lens begrijpen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D70BD-4423-EC25-C3B9-CACF79996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44" y="2369924"/>
            <a:ext cx="4744112" cy="3057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31FB6E-7064-5527-EBD9-185AF95E9EBD}"/>
              </a:ext>
            </a:extLst>
          </p:cNvPr>
          <p:cNvSpPr txBox="1"/>
          <p:nvPr/>
        </p:nvSpPr>
        <p:spPr>
          <a:xfrm>
            <a:off x="6591300" y="56628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595959"/>
                </a:solidFill>
                <a:effectLst/>
                <a:latin typeface="-apple-system"/>
              </a:rPr>
              <a:t>Anand &amp; Priya (2019)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CF4FF5-1159-1D66-AFB6-0B737EA5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59" y="2670003"/>
            <a:ext cx="5992061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9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069C36-FDCB-EFD7-F7E6-3D1326C13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70865-1D67-5B2D-BFB0-F78111B0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505C4-E653-613A-0E22-4A984D1C5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73" y="400620"/>
            <a:ext cx="10212225" cy="62587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9789928-FFE0-B81F-6D3A-8421463F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34" y="0"/>
            <a:ext cx="10515600" cy="1325563"/>
          </a:xfrm>
        </p:spPr>
        <p:txBody>
          <a:bodyPr/>
          <a:lstStyle/>
          <a:p>
            <a:r>
              <a:rPr lang="nl-NL" dirty="0"/>
              <a:t>DEEL 1 </a:t>
            </a:r>
            <a:br>
              <a:rPr lang="nl-NL" dirty="0"/>
            </a:br>
            <a:r>
              <a:rPr lang="nl-NL" dirty="0"/>
              <a:t>Globale</a:t>
            </a:r>
            <a:br>
              <a:rPr lang="nl-NL" dirty="0"/>
            </a:br>
            <a:r>
              <a:rPr lang="nl-NL" dirty="0"/>
              <a:t>Lens Beslisboom</a:t>
            </a:r>
          </a:p>
        </p:txBody>
      </p:sp>
    </p:spTree>
    <p:extLst>
      <p:ext uri="{BB962C8B-B14F-4D97-AF65-F5344CB8AC3E}">
        <p14:creationId xmlns:p14="http://schemas.microsoft.com/office/powerpoint/2010/main" val="1680328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D370E8-723D-2918-F378-0B9B21759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Gaten meten op ±0.1mm → </a:t>
            </a:r>
            <a:r>
              <a:rPr lang="nl-NL" b="1" dirty="0" err="1"/>
              <a:t>telecentrische</a:t>
            </a:r>
            <a:r>
              <a:rPr lang="nl-NL" b="1" dirty="0"/>
              <a:t> lens verplicht</a:t>
            </a:r>
          </a:p>
          <a:p>
            <a:r>
              <a:rPr lang="nl-NL" dirty="0"/>
              <a:t>Aanwezigheid waterreservoir → </a:t>
            </a:r>
            <a:r>
              <a:rPr lang="nl-NL" b="1" dirty="0"/>
              <a:t>standaard </a:t>
            </a:r>
            <a:r>
              <a:rPr lang="nl-NL" b="1" dirty="0" err="1"/>
              <a:t>fixed</a:t>
            </a:r>
            <a:r>
              <a:rPr lang="nl-NL" b="1" dirty="0"/>
              <a:t> </a:t>
            </a:r>
            <a:r>
              <a:rPr lang="nl-NL" b="1" dirty="0" err="1"/>
              <a:t>focal</a:t>
            </a:r>
            <a:r>
              <a:rPr lang="nl-NL" b="1" dirty="0"/>
              <a:t> volstaat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9ADDCA-8082-820F-3D96-EE745F48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8D6D3-0F8F-77EC-308E-EF001B35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Telecentrisme — voor als millimeters tellen</a:t>
            </a:r>
            <a:endParaRPr lang="nl-NL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1505EC-F71E-D10A-ED46-AE42F0AB1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16553"/>
              </p:ext>
            </p:extLst>
          </p:nvPr>
        </p:nvGraphicFramePr>
        <p:xfrm>
          <a:off x="1219200" y="1859652"/>
          <a:ext cx="92075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750">
                  <a:extLst>
                    <a:ext uri="{9D8B030D-6E8A-4147-A177-3AD203B41FA5}">
                      <a16:colId xmlns:a16="http://schemas.microsoft.com/office/drawing/2014/main" val="982862966"/>
                    </a:ext>
                  </a:extLst>
                </a:gridCol>
                <a:gridCol w="4603750">
                  <a:extLst>
                    <a:ext uri="{9D8B030D-6E8A-4147-A177-3AD203B41FA5}">
                      <a16:colId xmlns:a16="http://schemas.microsoft.com/office/drawing/2014/main" val="134519700"/>
                    </a:ext>
                  </a:extLst>
                </a:gridCol>
              </a:tblGrid>
              <a:tr h="385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effectLst/>
                        </a:rPr>
                        <a:t>Standaard</a:t>
                      </a:r>
                      <a:r>
                        <a:rPr lang="en-US" sz="2000" dirty="0">
                          <a:effectLst/>
                        </a:rPr>
                        <a:t> lens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effectLst/>
                        </a:rPr>
                        <a:t>Telecentrische</a:t>
                      </a:r>
                      <a:r>
                        <a:rPr lang="en-US" sz="2000" dirty="0">
                          <a:effectLst/>
                        </a:rPr>
                        <a:t> lens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8959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Perspectief: verder = kleiner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2000">
                          <a:effectLst/>
                        </a:rPr>
                        <a:t>Geen perspectief: altijd zelfde grootte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0162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Goedkoop €30–€200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Duurder €200–€2000+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65788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Geschikt voor detectie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Verplicht bij maatinspectie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08303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Distortie aanwezig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Minimale distortie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6808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Groot veld mogelijk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2000" dirty="0">
                          <a:effectLst/>
                        </a:rPr>
                        <a:t>Veld beperkt tot max ~120mm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8222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28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CDEA33-947E-4091-AEA7-1581AB48FB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223A0-0CC6-766F-5C25-0F5F7E2D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19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9ACD8F-E94E-D1B1-62E1-A3988D7F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Python Lens</a:t>
            </a:r>
          </a:p>
        </p:txBody>
      </p:sp>
    </p:spTree>
    <p:extLst>
      <p:ext uri="{BB962C8B-B14F-4D97-AF65-F5344CB8AC3E}">
        <p14:creationId xmlns:p14="http://schemas.microsoft.com/office/powerpoint/2010/main" val="2558627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7A395-01CA-CFAD-CBDC-BB18DB42C8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Elke lens heeft </a:t>
            </a:r>
            <a:r>
              <a:rPr lang="nl-NL" dirty="0" err="1"/>
              <a:t>distortie</a:t>
            </a:r>
            <a:r>
              <a:rPr lang="nl-NL" dirty="0"/>
              <a:t>: rechte lijnen worden krom</a:t>
            </a:r>
          </a:p>
          <a:p>
            <a:r>
              <a:rPr lang="nl-NL" dirty="0"/>
              <a:t>Elke sensor heeft kleurafwijking: wit is niet altijd wit</a:t>
            </a:r>
          </a:p>
          <a:p>
            <a:r>
              <a:rPr lang="nl-NL" dirty="0"/>
              <a:t>Overbelichting vernietigt informatie: uitgebrande pixels zijn onherstelbaar</a:t>
            </a:r>
          </a:p>
          <a:p>
            <a:r>
              <a:rPr lang="nl-NL" dirty="0" err="1"/>
              <a:t>Calibratie</a:t>
            </a:r>
            <a:r>
              <a:rPr lang="nl-NL" dirty="0"/>
              <a:t> = eenmalig investeren, altijd beter resultaat</a:t>
            </a:r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C5F02B-2A68-C2C1-FB95-84391153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20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DCAA77-E8E7-C901-C0A3-7BD18855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Waarom </a:t>
            </a:r>
            <a:r>
              <a:rPr lang="en-US" dirty="0" err="1"/>
              <a:t>calibratie</a:t>
            </a:r>
            <a:r>
              <a:rPr lang="en-US" dirty="0"/>
              <a:t>?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91093-F21F-1479-DB0C-B1F123A4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32" y="3640859"/>
            <a:ext cx="6127965" cy="247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49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B8460E-227F-EAAD-896D-4BBF49C2EC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701168"/>
            <a:ext cx="6613327" cy="247246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78D71E-9AF1-8CED-5C7A-0D1FB2EA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21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54C8E3-AE7C-D6FA-DF18-E16ED0DD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Distorbtie</a:t>
            </a:r>
            <a:endParaRPr lang="nl-N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8CE2D0-3107-B1BE-D0C8-A0E00111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55349"/>
            <a:ext cx="5676900" cy="319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C1A7F89-5348-AE19-C06E-DAD75C02C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2"/>
          <a:stretch>
            <a:fillRect/>
          </a:stretch>
        </p:blipFill>
        <p:spPr bwMode="auto">
          <a:xfrm>
            <a:off x="6134102" y="1198174"/>
            <a:ext cx="3098800" cy="345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665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C5216-753D-CB6B-7516-C0858CE4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22</a:t>
            </a:fld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EABD53-2EBB-54B6-1214-9DC42E9D4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58"/>
          <a:stretch>
            <a:fillRect/>
          </a:stretch>
        </p:blipFill>
        <p:spPr>
          <a:xfrm>
            <a:off x="3865816" y="396787"/>
            <a:ext cx="5193792" cy="63945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80B95B-FCC7-85D4-7947-09CCD246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DEEL 3 — </a:t>
            </a:r>
            <a:r>
              <a:rPr lang="en-US" dirty="0" err="1"/>
              <a:t>Beslisboom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Calibratie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3896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476EEF-29E5-D6E4-4BD5-07DBE71889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EBFD7-0BB2-4443-501D-0DB4986E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E01B80-25E8-39E9-FBC8-A0508842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Calibratie</a:t>
            </a:r>
            <a:r>
              <a:rPr lang="nl-NL" dirty="0"/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8B02C5-4D4C-A014-259E-E4A1B07B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920" y="2971800"/>
            <a:ext cx="534717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75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C0759D-5109-9C1F-E264-FF3475634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7DCFF-B5D1-52AB-9C76-2FE894EE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C03603-D614-0B0F-E5DA-DAE80346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54582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HAN">
      <a:dk1>
        <a:sysClr val="windowText" lastClr="000000"/>
      </a:dk1>
      <a:lt1>
        <a:sysClr val="window" lastClr="FFFFFF"/>
      </a:lt1>
      <a:dk2>
        <a:srgbClr val="E50056"/>
      </a:dk2>
      <a:lt2>
        <a:srgbClr val="F8F8F8"/>
      </a:lt2>
      <a:accent1>
        <a:srgbClr val="000000"/>
      </a:accent1>
      <a:accent2>
        <a:srgbClr val="454545"/>
      </a:accent2>
      <a:accent3>
        <a:srgbClr val="757575"/>
      </a:accent3>
      <a:accent4>
        <a:srgbClr val="919191"/>
      </a:accent4>
      <a:accent5>
        <a:srgbClr val="E3E3E3"/>
      </a:accent5>
      <a:accent6>
        <a:srgbClr val="F8F8F8"/>
      </a:accent6>
      <a:hlink>
        <a:srgbClr val="000000"/>
      </a:hlink>
      <a:folHlink>
        <a:srgbClr val="000000"/>
      </a:folHlink>
    </a:clrScheme>
    <a:fontScheme name="HAN!">
      <a:majorFont>
        <a:latin typeface="Roboto Condensed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_PowerPoint_breed_wit_v2.1" id="{92CBC7AB-8886-3343-9313-0014277669FC}" vid="{B1563569-891F-4F48-AD92-8F3B6ACDC69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457A4D2E51B14F88D470F52782FA7D" ma:contentTypeVersion="4" ma:contentTypeDescription="Create a new document." ma:contentTypeScope="" ma:versionID="ce885d763a3f7853ef49b3b9ea0f293f">
  <xsd:schema xmlns:xsd="http://www.w3.org/2001/XMLSchema" xmlns:xs="http://www.w3.org/2001/XMLSchema" xmlns:p="http://schemas.microsoft.com/office/2006/metadata/properties" xmlns:ns2="ee6fde1a-ebe4-44e6-8d92-34070855aeaf" targetNamespace="http://schemas.microsoft.com/office/2006/metadata/properties" ma:root="true" ma:fieldsID="c4b62f03d1641294a13c71ea34b76386" ns2:_="">
    <xsd:import namespace="ee6fde1a-ebe4-44e6-8d92-34070855ae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fde1a-ebe4-44e6-8d92-34070855a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71D5FA-9632-4EA8-A2CC-02B86B29C0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3FAB99-B7CD-40C9-92E7-B78F7B5FC6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1A66CAF-27E5-4E71-A9FF-55375C38E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6fde1a-ebe4-44e6-8d92-34070855a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Wit_breed 25.1</Template>
  <TotalTime>0</TotalTime>
  <Words>3152</Words>
  <Application>Microsoft Office PowerPoint</Application>
  <PresentationFormat>Widescreen</PresentationFormat>
  <Paragraphs>402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-apple-system</vt:lpstr>
      <vt:lpstr>Arial</vt:lpstr>
      <vt:lpstr>Roboto</vt:lpstr>
      <vt:lpstr>Roboto Condensed SemiBold</vt:lpstr>
      <vt:lpstr>Presentatie_Smal</vt:lpstr>
      <vt:lpstr>Agenda</vt:lpstr>
      <vt:lpstr>Hardware keuzes</vt:lpstr>
      <vt:lpstr>Vision systeem</vt:lpstr>
      <vt:lpstr>Hoofdtaken</vt:lpstr>
      <vt:lpstr>Beslisboom</vt:lpstr>
      <vt:lpstr>PowerPoint Presentation</vt:lpstr>
      <vt:lpstr>Traditioneel vs. Deep Learning</vt:lpstr>
      <vt:lpstr>LAAG 2: Hardware  Platform</vt:lpstr>
      <vt:lpstr>LAAG 3: Cameratype</vt:lpstr>
      <vt:lpstr>Opdracht 2 — Jouw laptop als vision sensor: wat kan hij écht?</vt:lpstr>
      <vt:lpstr>LAAG 4:  Camera Specs</vt:lpstr>
      <vt:lpstr>Belichting: het meest onderschatte onderdeel</vt:lpstr>
      <vt:lpstr>LAAG 5:  Belichting</vt:lpstr>
      <vt:lpstr>Polariserende filter — wanneer en hoe?</vt:lpstr>
      <vt:lpstr>Belichting test python </vt:lpstr>
      <vt:lpstr>Lens begrijpen</vt:lpstr>
      <vt:lpstr>DEEL 1  Globale Lens Beslisboom</vt:lpstr>
      <vt:lpstr>Telecentrisme — voor als millimeters tellen</vt:lpstr>
      <vt:lpstr>Python Lens</vt:lpstr>
      <vt:lpstr>Waarom calibratie?</vt:lpstr>
      <vt:lpstr>Distorbtie</vt:lpstr>
      <vt:lpstr>DEEL 3 — Beslisboom  Calibratie</vt:lpstr>
      <vt:lpstr>Calibratie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Lautenbach</dc:creator>
  <cp:lastModifiedBy>Thomas Lautenbach</cp:lastModifiedBy>
  <cp:revision>1</cp:revision>
  <dcterms:created xsi:type="dcterms:W3CDTF">2026-04-01T07:21:45Z</dcterms:created>
  <dcterms:modified xsi:type="dcterms:W3CDTF">2026-04-07T13:52:08Z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0x0101001A457A4D2E51B14F88D470F52782FA7D</vt:lpwstr>
  </property>
</Properties>
</file>